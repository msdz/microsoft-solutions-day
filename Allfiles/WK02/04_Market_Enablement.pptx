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98B0A-B415-5A3C-3620-B0456E13B352}" v="3" dt="2026-09-08T08:56:03.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Hans"/>
              <a:t>点击编辑主文本样式</a:t>
            </a:r>
          </a:p>
          <a:p>
            <a:pPr lvl="1"/>
            <a:r>
              <a:rPr lang="zh-Hans"/>
              <a:t>第二层</a:t>
            </a:r>
          </a:p>
          <a:p>
            <a:pPr lvl="2"/>
            <a:r>
              <a:rPr lang="zh-Hans"/>
              <a:t>第三层</a:t>
            </a:r>
          </a:p>
          <a:p>
            <a:pPr lvl="3"/>
            <a:r>
              <a:rPr lang="zh-Hans"/>
              <a:t>第四级</a:t>
            </a:r>
          </a:p>
          <a:p>
            <a:pPr lvl="4"/>
            <a:r>
              <a:rPr lang="zh-Hans"/>
              <a:t>第五级</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本页用于介绍 X500 的亚太区上市计划。 演示内容主要覆盖市场定位、客户价值、销售准备、合作伙伴准备、培训计划和上市衡量指标。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本页只说明产品定位与价值方向。 客户实际收益仍需要结合工厂环境、现有设备、网络条件和部署范围评估。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首批市场活动将优先面向具有明确设备连接、边缘分析或预测性维护需求的制造企业。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日本市场目前仍保留原定日期,但被标记为 At Risk。 最终对外日期需要结合认证、库存和渠道准备状态确认。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根据本材料的更新时间,定价仍处于 Pending Approval 状态。 后续如果其他文件显示不同状态,应以最新正式审批信息为准,并标记资料冲突。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日本是培训完成率最低的市场。 区域团队需确认培训不足是否会影响正式销售授权或仅影响销售效率,当前资料不能直接得出该结论。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营销活动可以提前准备,但对外发布日期、可供货状态、认证信息和产品功能需要与 Launch Readiness 团队保持一致。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Hans"/>
              <a:t>本页汇总上市衡量指标与待办事项。 Market Enablement Status 为 At Risk,主要原因为培训完成率 72%、Pricing Approval 未完成、日本认证与上市日期待确认、Demo Guide 与 Customer FAQ 未完成。 此状态不代表最终 Go / No-Go 结论。
本页内容基于 2026-09-25 的 Market Enablement 资料。 若与较新的 Launch Milestones、Risk Register 或 Cross-Functional Updates 不一致,应标记为「资料冲突,需人工确认」,不得自动选择其中一个版本。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itle panel">
            <a:extLst>
              <a:ext uri="{C183D7F6-B498-43B3-948B-1728B52AA6E4}">
                <adec:decorative xmlns:adec="http://schemas.microsoft.com/office/drawing/2017/decorative" val="1"/>
              </a:ext>
            </a:extLst>
          </p:cNvPr>
          <p:cNvSpPr/>
          <p:nvPr/>
        </p:nvSpPr>
        <p:spPr>
          <a:xfrm>
            <a:off x="0" y="0"/>
            <a:ext cx="5394960" cy="5143500"/>
          </a:xfrm>
          <a:prstGeom prst="rect">
            <a:avLst/>
          </a:prstGeom>
          <a:solidFill>
            <a:srgbClr val="1B2A41"/>
          </a:solidFill>
          <a:ln/>
        </p:spPr>
      </p:sp>
      <p:sp>
        <p:nvSpPr>
          <p:cNvPr id="3" name="Accent rule">
            <a:extLst>
              <a:ext uri="{C183D7F6-B498-43B3-948B-1728B52AA6E4}">
                <adec:decorative xmlns:adec="http://schemas.microsoft.com/office/drawing/2017/decorative" val="1"/>
              </a:ext>
            </a:extLst>
          </p:cNvPr>
          <p:cNvSpPr/>
          <p:nvPr/>
        </p:nvSpPr>
        <p:spPr>
          <a:xfrm>
            <a:off x="640080" y="932688"/>
            <a:ext cx="914400" cy="45720"/>
          </a:xfrm>
          <a:prstGeom prst="rect">
            <a:avLst/>
          </a:prstGeom>
          <a:solidFill>
            <a:srgbClr val="E07A19"/>
          </a:solidFill>
          <a:ln/>
        </p:spPr>
      </p:sp>
      <p:sp>
        <p:nvSpPr>
          <p:cNvPr id="4" name="Text 2"/>
          <p:cNvSpPr/>
          <p:nvPr/>
        </p:nvSpPr>
        <p:spPr>
          <a:xfrm>
            <a:off x="640080" y="1170432"/>
            <a:ext cx="4206240" cy="914400"/>
          </a:xfrm>
          <a:prstGeom prst="rect">
            <a:avLst/>
          </a:prstGeom>
          <a:noFill/>
          <a:ln/>
        </p:spPr>
        <p:txBody>
          <a:bodyPr wrap="square" lIns="0" tIns="0" rIns="0" bIns="0" rtlCol="0" anchor="ctr"/>
          <a:lstStyle/>
          <a:p>
            <a:pPr marL="0" indent="0">
              <a:buNone/>
            </a:pPr>
            <a:r>
              <a:rPr lang="zh-Hans" sz="3000" b="1">
                <a:solidFill>
                  <a:srgbClr val="FFFFFF"/>
                </a:solidFill>
                <a:latin typeface="Microsoft YaHei" pitchFamily="34" charset="0"/>
                <a:ea typeface="Microsoft YaHei" pitchFamily="34" charset="-122"/>
                <a:cs typeface="Microsoft YaHei" pitchFamily="34" charset="-120"/>
              </a:rPr>
              <a:t>Contoso Edge Gateway X500</a:t>
            </a:r>
            <a:endParaRPr lang="en-US" sz="3000" dirty="0"/>
          </a:p>
        </p:txBody>
      </p:sp>
      <p:sp>
        <p:nvSpPr>
          <p:cNvPr id="5" name="Text 3"/>
          <p:cNvSpPr/>
          <p:nvPr/>
        </p:nvSpPr>
        <p:spPr>
          <a:xfrm>
            <a:off x="640080" y="2103120"/>
            <a:ext cx="4206240" cy="384048"/>
          </a:xfrm>
          <a:prstGeom prst="rect">
            <a:avLst/>
          </a:prstGeom>
          <a:noFill/>
          <a:ln/>
        </p:spPr>
        <p:txBody>
          <a:bodyPr wrap="square" lIns="0" tIns="0" rIns="0" bIns="0" rtlCol="0" anchor="ctr"/>
          <a:lstStyle/>
          <a:p>
            <a:pPr marL="0" indent="0">
              <a:buNone/>
            </a:pPr>
            <a:r>
              <a:rPr lang="zh-Hans" sz="1700">
                <a:solidFill>
                  <a:srgbClr val="8FC1E8"/>
                </a:solidFill>
                <a:latin typeface="Microsoft YaHei" pitchFamily="34" charset="0"/>
                <a:ea typeface="Microsoft YaHei" pitchFamily="34" charset="-122"/>
                <a:cs typeface="Microsoft YaHei" pitchFamily="34" charset="-120"/>
              </a:rPr>
              <a:t>亚太市场赋能计划</a:t>
            </a:r>
            <a:endParaRPr lang="en-US" sz="1700" dirty="0"/>
          </a:p>
        </p:txBody>
      </p:sp>
      <p:sp>
        <p:nvSpPr>
          <p:cNvPr id="6" name="Text 4"/>
          <p:cNvSpPr/>
          <p:nvPr/>
        </p:nvSpPr>
        <p:spPr>
          <a:xfrm>
            <a:off x="640080" y="2578608"/>
            <a:ext cx="4206240" cy="548640"/>
          </a:xfrm>
          <a:prstGeom prst="rect">
            <a:avLst/>
          </a:prstGeom>
          <a:noFill/>
          <a:ln/>
        </p:spPr>
        <p:txBody>
          <a:bodyPr wrap="square" lIns="0" tIns="0" rIns="0" bIns="0" rtlCol="0" anchor="ctr"/>
          <a:lstStyle/>
          <a:p>
            <a:pPr marL="0" indent="0">
              <a:buNone/>
            </a:pPr>
            <a:r>
              <a:rPr lang="zh-Hans" sz="1150">
                <a:solidFill>
                  <a:srgbClr val="C7D8E8"/>
                </a:solidFill>
                <a:latin typeface="Microsoft YaHei" pitchFamily="34" charset="0"/>
                <a:ea typeface="Microsoft YaHei" pitchFamily="34" charset="-122"/>
                <a:cs typeface="Microsoft YaHei" pitchFamily="34" charset="-120"/>
              </a:rPr>
              <a:t>将工业运营与安全的边缘智能连接起来</a:t>
            </a:r>
            <a:endParaRPr lang="en-US" sz="1150" dirty="0"/>
          </a:p>
        </p:txBody>
      </p:sp>
      <p:sp>
        <p:nvSpPr>
          <p:cNvPr id="7" name="Text 5"/>
          <p:cNvSpPr/>
          <p:nvPr/>
        </p:nvSpPr>
        <p:spPr>
          <a:xfrm>
            <a:off x="640080" y="4343400"/>
            <a:ext cx="4389120" cy="274320"/>
          </a:xfrm>
          <a:prstGeom prst="rect">
            <a:avLst/>
          </a:prstGeom>
          <a:noFill/>
          <a:ln/>
        </p:spPr>
        <p:txBody>
          <a:bodyPr wrap="square" lIns="0" tIns="0" rIns="0" bIns="0" rtlCol="0" anchor="ctr"/>
          <a:lstStyle/>
          <a:p>
            <a:pPr marL="0" indent="0">
              <a:buNone/>
            </a:pPr>
            <a:r>
              <a:rPr lang="zh-Hans" sz="900">
                <a:solidFill>
                  <a:srgbClr val="7E94AC"/>
                </a:solidFill>
                <a:latin typeface="Microsoft YaHei" pitchFamily="34" charset="0"/>
                <a:ea typeface="Microsoft YaHei" pitchFamily="34" charset="-122"/>
                <a:cs typeface="Microsoft YaHei" pitchFamily="34" charset="-120"/>
              </a:rPr>
              <a:t>仅限内部培训使用 ·v0.9 ·资料更新 2026-09-25</a:t>
            </a:r>
            <a:endParaRPr lang="en-US" sz="900" dirty="0"/>
          </a:p>
        </p:txBody>
      </p:sp>
      <p:sp>
        <p:nvSpPr>
          <p:cNvPr id="8" name="Text 6"/>
          <p:cNvSpPr/>
          <p:nvPr/>
        </p:nvSpPr>
        <p:spPr>
          <a:xfrm>
            <a:off x="5852160" y="1234440"/>
            <a:ext cx="2926080" cy="274320"/>
          </a:xfrm>
          <a:prstGeom prst="rect">
            <a:avLst/>
          </a:prstGeom>
          <a:noFill/>
          <a:ln/>
        </p:spPr>
        <p:txBody>
          <a:bodyPr wrap="square" lIns="0" tIns="0" rIns="0" bIns="0" rtlCol="0" anchor="ctr"/>
          <a:lstStyle/>
          <a:p>
            <a:pPr marL="0" indent="0">
              <a:buNone/>
            </a:pPr>
            <a:r>
              <a:rPr lang="zh-Hans" sz="1300" b="1">
                <a:solidFill>
                  <a:srgbClr val="1F5C99"/>
                </a:solidFill>
                <a:latin typeface="Microsoft YaHei" pitchFamily="34" charset="0"/>
                <a:ea typeface="Microsoft YaHei" pitchFamily="34" charset="-122"/>
                <a:cs typeface="Microsoft YaHei" pitchFamily="34" charset="-120"/>
              </a:rPr>
              <a:t>发射快照</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917082550"/>
              </p:ext>
            </p:extLst>
          </p:nvPr>
        </p:nvGraphicFramePr>
        <p:xfrm>
          <a:off x="5852160" y="1572768"/>
          <a:ext cx="2926080" cy="1536192"/>
        </p:xfrm>
        <a:graphic>
          <a:graphicData uri="http://schemas.openxmlformats.org/drawingml/2006/table">
            <a:tbl>
              <a:tblPr/>
              <a:tblGrid>
                <a:gridCol w="13258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84048">
                <a:tc>
                  <a:txBody>
                    <a:bodyPr/>
                    <a:lstStyle/>
                    <a:p>
                      <a:pPr marL="0" indent="0">
                        <a:buNone/>
                      </a:pPr>
                      <a:r>
                        <a:rPr lang="zh-Hans" sz="950" b="1">
                          <a:solidFill>
                            <a:srgbClr val="5A6B7B"/>
                          </a:solidFill>
                          <a:latin typeface="Microsoft YaHei" pitchFamily="34" charset="0"/>
                          <a:ea typeface="Microsoft YaHei" pitchFamily="34" charset="-122"/>
                          <a:cs typeface="Microsoft YaHei" pitchFamily="34" charset="-120"/>
                        </a:rPr>
                        <a:t>目标发射日期</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2026-11-15</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zh-Hans" sz="950" b="1">
                          <a:solidFill>
                            <a:srgbClr val="5A6B7B"/>
                          </a:solidFill>
                          <a:latin typeface="Microsoft YaHei" pitchFamily="34" charset="0"/>
                          <a:ea typeface="Microsoft YaHei" pitchFamily="34" charset="-122"/>
                          <a:cs typeface="Microsoft YaHei" pitchFamily="34" charset="-120"/>
                        </a:rPr>
                        <a:t>启动市场</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中国、日本、新加坡</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zh-Hans" sz="950" b="1">
                          <a:solidFill>
                            <a:srgbClr val="5A6B7B"/>
                          </a:solidFill>
                          <a:latin typeface="Microsoft YaHei" pitchFamily="34" charset="0"/>
                          <a:ea typeface="Microsoft YaHei" pitchFamily="34" charset="-122"/>
                          <a:cs typeface="Microsoft YaHei" pitchFamily="34" charset="-120"/>
                        </a:rPr>
                        <a:t>产品阶段</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发射准备</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zh-Hans" sz="950" b="1">
                          <a:solidFill>
                            <a:srgbClr val="5A6B7B"/>
                          </a:solidFill>
                          <a:latin typeface="Microsoft YaHei" pitchFamily="34" charset="0"/>
                          <a:ea typeface="Microsoft YaHei" pitchFamily="34" charset="-122"/>
                          <a:cs typeface="Microsoft YaHei" pitchFamily="34" charset="-120"/>
                        </a:rPr>
                        <a:t>展示所有者</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亚太产品营销</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5852160" y="3383280"/>
            <a:ext cx="2926080" cy="274320"/>
          </a:xfrm>
          <a:prstGeom prst="rect">
            <a:avLst/>
          </a:prstGeom>
          <a:noFill/>
          <a:ln/>
        </p:spPr>
        <p:txBody>
          <a:bodyPr wrap="square" lIns="0" tIns="0" rIns="0" bIns="0" rtlCol="0" anchor="ctr"/>
          <a:lstStyle/>
          <a:p>
            <a:pPr marL="0" indent="0">
              <a:buNone/>
            </a:pPr>
            <a:r>
              <a:rPr lang="zh-Hans" sz="850" i="1">
                <a:solidFill>
                  <a:srgbClr val="5A6B7B"/>
                </a:solidFill>
                <a:latin typeface="Microsoft YaHei" pitchFamily="34" charset="0"/>
                <a:ea typeface="Microsoft YaHei" pitchFamily="34" charset="-122"/>
                <a:cs typeface="Microsoft YaHei" pitchFamily="34" charset="-120"/>
              </a:rPr>
              <a:t>模拟数据,仅用于 Microsoft Solutions Day 实验</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产品定位与客户价值</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产品定位与客户价值</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sp>
        <p:nvSpPr>
          <p:cNvPr id="8" name="Text 6"/>
          <p:cNvSpPr/>
          <p:nvPr/>
        </p:nvSpPr>
        <p:spPr>
          <a:xfrm>
            <a:off x="411480" y="969264"/>
            <a:ext cx="8321040" cy="384048"/>
          </a:xfrm>
          <a:prstGeom prst="rect">
            <a:avLst/>
          </a:prstGeom>
          <a:noFill/>
          <a:ln/>
        </p:spPr>
        <p:txBody>
          <a:bodyPr wrap="square" lIns="0" tIns="0" rIns="0" bIns="0" rtlCol="0" anchor="ctr"/>
          <a:lstStyle/>
          <a:p>
            <a:pPr marL="0" indent="0">
              <a:buNone/>
            </a:pPr>
            <a:r>
              <a:rPr lang="zh-Hans" sz="1050">
                <a:solidFill>
                  <a:srgbClr val="1B2A41"/>
                </a:solidFill>
                <a:latin typeface="Microsoft YaHei" pitchFamily="34" charset="0"/>
                <a:ea typeface="Microsoft YaHei" pitchFamily="34" charset="-122"/>
                <a:cs typeface="Microsoft YaHei" pitchFamily="34" charset="-120"/>
              </a:rPr>
              <a:t>Contoso Edge Gateway X500 是面向制造企业的工业边缘计算网关,用于连接现场设备、采集工业数据,并在靠近设备的位置执行实时分析。</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783395190"/>
              </p:ext>
            </p:extLst>
          </p:nvPr>
        </p:nvGraphicFramePr>
        <p:xfrm>
          <a:off x="411480" y="1463040"/>
          <a:ext cx="5806440" cy="202692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29184">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客户挑战</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X500 提供的能力</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预期业务价值</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329184">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工业设备和协议分散</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OPC-UA、Modbus TCP、MQTT 等连接能力</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降低设备连接复杂度</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现场数据处理延迟</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边缘分析</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提高异常响应速度</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设备维护依赖人工经验</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预测性维护</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提前识别设备异常</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远程站点管理困难</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设备管理</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统一监控和远程诊断</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工业数据难以进入 AI 场景</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Azure 与 Copilot 集成框架</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支撑后续 AI 应用</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Content panel">
            <a:extLst>
              <a:ext uri="{C183D7F6-B498-43B3-948B-1728B52AA6E4}">
                <adec:decorative xmlns:adec="http://schemas.microsoft.com/office/drawing/2017/decorative" val="1"/>
              </a:ext>
            </a:extLst>
          </p:cNvPr>
          <p:cNvSpPr/>
          <p:nvPr/>
        </p:nvSpPr>
        <p:spPr>
          <a:xfrm>
            <a:off x="6400800" y="1463040"/>
            <a:ext cx="2331720" cy="1975104"/>
          </a:xfrm>
          <a:prstGeom prst="rect">
            <a:avLst/>
          </a:prstGeom>
          <a:solidFill>
            <a:srgbClr val="F6F9FC"/>
          </a:solidFill>
          <a:ln w="6350">
            <a:solidFill>
              <a:srgbClr val="C9D8E6"/>
            </a:solidFill>
            <a:prstDash val="solid"/>
          </a:ln>
        </p:spPr>
      </p:sp>
      <p:sp>
        <p:nvSpPr>
          <p:cNvPr id="11" name="Panel accent">
            <a:extLst>
              <a:ext uri="{C183D7F6-B498-43B3-948B-1728B52AA6E4}">
                <adec:decorative xmlns:adec="http://schemas.microsoft.com/office/drawing/2017/decorative" val="1"/>
              </a:ext>
            </a:extLst>
          </p:cNvPr>
          <p:cNvSpPr/>
          <p:nvPr/>
        </p:nvSpPr>
        <p:spPr>
          <a:xfrm>
            <a:off x="6400800" y="1463040"/>
            <a:ext cx="54864" cy="1975104"/>
          </a:xfrm>
          <a:prstGeom prst="rect">
            <a:avLst/>
          </a:prstGeom>
          <a:solidFill>
            <a:srgbClr val="E07A19"/>
          </a:solidFill>
          <a:ln/>
        </p:spPr>
      </p:sp>
      <p:sp>
        <p:nvSpPr>
          <p:cNvPr id="12" name="Text 9"/>
          <p:cNvSpPr/>
          <p:nvPr/>
        </p:nvSpPr>
        <p:spPr>
          <a:xfrm>
            <a:off x="6565392" y="1536192"/>
            <a:ext cx="205740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统一架构</a:t>
            </a:r>
            <a:endParaRPr lang="en-US" sz="1100" dirty="0"/>
          </a:p>
        </p:txBody>
      </p:sp>
      <p:sp>
        <p:nvSpPr>
          <p:cNvPr id="13" name="Architecture layer">
            <a:extLst>
              <a:ext uri="{C183D7F6-B498-43B3-948B-1728B52AA6E4}">
                <adec:decorative xmlns:adec="http://schemas.microsoft.com/office/drawing/2017/decorative" val="1"/>
              </a:ext>
            </a:extLst>
          </p:cNvPr>
          <p:cNvSpPr/>
          <p:nvPr/>
        </p:nvSpPr>
        <p:spPr>
          <a:xfrm>
            <a:off x="6547104" y="1783080"/>
            <a:ext cx="2057400" cy="402336"/>
          </a:xfrm>
          <a:prstGeom prst="rect">
            <a:avLst/>
          </a:prstGeom>
          <a:solidFill>
            <a:srgbClr val="E8F0F7"/>
          </a:solidFill>
          <a:ln/>
        </p:spPr>
      </p:sp>
      <p:sp>
        <p:nvSpPr>
          <p:cNvPr id="14" name="Text 11"/>
          <p:cNvSpPr/>
          <p:nvPr/>
        </p:nvSpPr>
        <p:spPr>
          <a:xfrm>
            <a:off x="6547104" y="1783080"/>
            <a:ext cx="2057400" cy="402336"/>
          </a:xfrm>
          <a:prstGeom prst="rect">
            <a:avLst/>
          </a:prstGeom>
          <a:noFill/>
          <a:ln/>
        </p:spPr>
        <p:txBody>
          <a:bodyPr wrap="square" lIns="0" tIns="0" rIns="0" bIns="0" rtlCol="0" anchor="ctr"/>
          <a:lstStyle/>
          <a:p>
            <a:pPr marL="0" indent="0" algn="ctr">
              <a:buNone/>
            </a:pPr>
            <a:r>
              <a:rPr lang="zh-Hans" sz="950">
                <a:solidFill>
                  <a:srgbClr val="1B2A41"/>
                </a:solidFill>
                <a:latin typeface="Microsoft YaHei" pitchFamily="34" charset="0"/>
                <a:ea typeface="Microsoft YaHei" pitchFamily="34" charset="-122"/>
                <a:cs typeface="Microsoft YaHei" pitchFamily="34" charset="-120"/>
              </a:rPr>
              <a:t>工厂资产</a:t>
            </a:r>
            <a:endParaRPr lang="en-US" sz="950" dirty="0"/>
          </a:p>
        </p:txBody>
      </p:sp>
      <p:sp>
        <p:nvSpPr>
          <p:cNvPr id="15" name="Architecture layer">
            <a:extLst>
              <a:ext uri="{C183D7F6-B498-43B3-948B-1728B52AA6E4}">
                <adec:decorative xmlns:adec="http://schemas.microsoft.com/office/drawing/2017/decorative" val="1"/>
              </a:ext>
            </a:extLst>
          </p:cNvPr>
          <p:cNvSpPr/>
          <p:nvPr/>
        </p:nvSpPr>
        <p:spPr>
          <a:xfrm>
            <a:off x="6547104" y="2331720"/>
            <a:ext cx="2057400" cy="402336"/>
          </a:xfrm>
          <a:prstGeom prst="rect">
            <a:avLst/>
          </a:prstGeom>
          <a:solidFill>
            <a:srgbClr val="1F5C99"/>
          </a:solidFill>
          <a:ln/>
        </p:spPr>
      </p:sp>
      <p:sp>
        <p:nvSpPr>
          <p:cNvPr id="16" name="Text 13"/>
          <p:cNvSpPr/>
          <p:nvPr/>
        </p:nvSpPr>
        <p:spPr>
          <a:xfrm>
            <a:off x="6547104" y="2331720"/>
            <a:ext cx="2057400" cy="402336"/>
          </a:xfrm>
          <a:prstGeom prst="rect">
            <a:avLst/>
          </a:prstGeom>
          <a:noFill/>
          <a:ln/>
        </p:spPr>
        <p:txBody>
          <a:bodyPr wrap="square" lIns="0" tIns="0" rIns="0" bIns="0" rtlCol="0" anchor="ctr"/>
          <a:lstStyle/>
          <a:p>
            <a:pPr marL="0" indent="0" algn="ctr">
              <a:buNone/>
            </a:pPr>
            <a:r>
              <a:rPr lang="zh-Hans" sz="950" b="1">
                <a:solidFill>
                  <a:srgbClr val="FFFFFF"/>
                </a:solidFill>
                <a:latin typeface="Microsoft YaHei" pitchFamily="34" charset="0"/>
                <a:ea typeface="Microsoft YaHei" pitchFamily="34" charset="-122"/>
                <a:cs typeface="Microsoft YaHei" pitchFamily="34" charset="-120"/>
              </a:rPr>
              <a:t>X500 边缘网关</a:t>
            </a:r>
            <a:endParaRPr lang="en-US" sz="950" dirty="0"/>
          </a:p>
        </p:txBody>
      </p:sp>
      <p:sp>
        <p:nvSpPr>
          <p:cNvPr id="17" name="Architecture layer">
            <a:extLst>
              <a:ext uri="{C183D7F6-B498-43B3-948B-1728B52AA6E4}">
                <adec:decorative xmlns:adec="http://schemas.microsoft.com/office/drawing/2017/decorative" val="1"/>
              </a:ext>
            </a:extLst>
          </p:cNvPr>
          <p:cNvSpPr/>
          <p:nvPr/>
        </p:nvSpPr>
        <p:spPr>
          <a:xfrm>
            <a:off x="6547104" y="2880360"/>
            <a:ext cx="2057400" cy="402336"/>
          </a:xfrm>
          <a:prstGeom prst="rect">
            <a:avLst/>
          </a:prstGeom>
          <a:solidFill>
            <a:srgbClr val="E8F0F7"/>
          </a:solidFill>
          <a:ln/>
        </p:spPr>
      </p:sp>
      <p:sp>
        <p:nvSpPr>
          <p:cNvPr id="18" name="Text 15"/>
          <p:cNvSpPr/>
          <p:nvPr/>
        </p:nvSpPr>
        <p:spPr>
          <a:xfrm>
            <a:off x="6547104" y="2880360"/>
            <a:ext cx="2057400" cy="402336"/>
          </a:xfrm>
          <a:prstGeom prst="rect">
            <a:avLst/>
          </a:prstGeom>
          <a:noFill/>
          <a:ln/>
        </p:spPr>
        <p:txBody>
          <a:bodyPr wrap="square" lIns="0" tIns="0" rIns="0" bIns="0" rtlCol="0" anchor="ctr"/>
          <a:lstStyle/>
          <a:p>
            <a:pPr marL="0" indent="0" algn="ctr">
              <a:buNone/>
            </a:pPr>
            <a:r>
              <a:rPr lang="zh-Hans" sz="950">
                <a:solidFill>
                  <a:srgbClr val="1B2A41"/>
                </a:solidFill>
                <a:latin typeface="Microsoft YaHei" pitchFamily="34" charset="0"/>
                <a:ea typeface="Microsoft YaHei" pitchFamily="34" charset="-122"/>
                <a:cs typeface="Microsoft YaHei" pitchFamily="34" charset="-120"/>
              </a:rPr>
              <a:t>Microsoft Cloud &amp; Copilot</a:t>
            </a:r>
            <a:endParaRPr lang="en-US" sz="950" dirty="0"/>
          </a:p>
        </p:txBody>
      </p:sp>
      <p:sp>
        <p:nvSpPr>
          <p:cNvPr id="19" name="Content panel">
            <a:extLst>
              <a:ext uri="{C183D7F6-B498-43B3-948B-1728B52AA6E4}">
                <adec:decorative xmlns:adec="http://schemas.microsoft.com/office/drawing/2017/decorative" val="1"/>
              </a:ext>
            </a:extLst>
          </p:cNvPr>
          <p:cNvSpPr/>
          <p:nvPr/>
        </p:nvSpPr>
        <p:spPr>
          <a:xfrm>
            <a:off x="411480" y="3611880"/>
            <a:ext cx="8321040" cy="1097280"/>
          </a:xfrm>
          <a:prstGeom prst="rect">
            <a:avLst/>
          </a:prstGeom>
          <a:solidFill>
            <a:srgbClr val="F6F9FC"/>
          </a:solidFill>
          <a:ln w="6350">
            <a:solidFill>
              <a:srgbClr val="C9D8E6"/>
            </a:solidFill>
            <a:prstDash val="solid"/>
          </a:ln>
        </p:spPr>
      </p:sp>
      <p:sp>
        <p:nvSpPr>
          <p:cNvPr id="20" name="Panel accent">
            <a:extLst>
              <a:ext uri="{C183D7F6-B498-43B3-948B-1728B52AA6E4}">
                <adec:decorative xmlns:adec="http://schemas.microsoft.com/office/drawing/2017/decorative" val="1"/>
              </a:ext>
            </a:extLst>
          </p:cNvPr>
          <p:cNvSpPr/>
          <p:nvPr/>
        </p:nvSpPr>
        <p:spPr>
          <a:xfrm>
            <a:off x="411480" y="3611880"/>
            <a:ext cx="54864" cy="1097280"/>
          </a:xfrm>
          <a:prstGeom prst="rect">
            <a:avLst/>
          </a:prstGeom>
          <a:solidFill>
            <a:srgbClr val="1F5C99"/>
          </a:solidFill>
          <a:ln/>
        </p:spPr>
      </p:sp>
      <p:sp>
        <p:nvSpPr>
          <p:cNvPr id="21" name="Text 18"/>
          <p:cNvSpPr/>
          <p:nvPr/>
        </p:nvSpPr>
        <p:spPr>
          <a:xfrm>
            <a:off x="576072" y="3685032"/>
            <a:ext cx="804672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核心价值主张</a:t>
            </a:r>
            <a:endParaRPr lang="en-US" sz="1100" dirty="0"/>
          </a:p>
        </p:txBody>
      </p:sp>
      <p:sp>
        <p:nvSpPr>
          <p:cNvPr id="22" name="Text 19"/>
          <p:cNvSpPr/>
          <p:nvPr/>
        </p:nvSpPr>
        <p:spPr>
          <a:xfrm>
            <a:off x="621792" y="3986784"/>
            <a:ext cx="7955280" cy="603504"/>
          </a:xfrm>
          <a:prstGeom prst="rect">
            <a:avLst/>
          </a:prstGeom>
          <a:noFill/>
          <a:ln/>
        </p:spPr>
        <p:txBody>
          <a:bodyPr wrap="square" lIns="0" tIns="0" rIns="0" bIns="0" rtlCol="0" anchor="ctr"/>
          <a:lstStyle/>
          <a:p>
            <a:pPr marL="0" indent="0">
              <a:buNone/>
            </a:pPr>
            <a:r>
              <a:rPr lang="zh-Hans" sz="1100">
                <a:solidFill>
                  <a:srgbClr val="1B2A41"/>
                </a:solidFill>
                <a:latin typeface="Microsoft YaHei" pitchFamily="34" charset="0"/>
                <a:ea typeface="Microsoft YaHei" pitchFamily="34" charset="-122"/>
                <a:cs typeface="Microsoft YaHei" pitchFamily="34" charset="-120"/>
              </a:rPr>
              <a:t>将现场设备连接、边缘分析和云端智能整合到统一的工业数据解决方案中。 客户实际收益仍需结合工厂环境、现有设备、网络条件和部署范围评估。</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目标行业与客户场景</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目标行业与应用场景</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sp>
        <p:nvSpPr>
          <p:cNvPr id="8" name="Content panel">
            <a:extLst>
              <a:ext uri="{C183D7F6-B498-43B3-948B-1728B52AA6E4}">
                <adec:decorative xmlns:adec="http://schemas.microsoft.com/office/drawing/2017/decorative" val="1"/>
              </a:ext>
            </a:extLst>
          </p:cNvPr>
          <p:cNvSpPr/>
          <p:nvPr/>
        </p:nvSpPr>
        <p:spPr>
          <a:xfrm>
            <a:off x="411480" y="987552"/>
            <a:ext cx="2697480" cy="1645920"/>
          </a:xfrm>
          <a:prstGeom prst="rect">
            <a:avLst/>
          </a:prstGeom>
          <a:solidFill>
            <a:srgbClr val="F6F9FC"/>
          </a:solidFill>
          <a:ln w="6350">
            <a:solidFill>
              <a:srgbClr val="C9D8E6"/>
            </a:solidFill>
            <a:prstDash val="solid"/>
          </a:ln>
        </p:spPr>
      </p:sp>
      <p:sp>
        <p:nvSpPr>
          <p:cNvPr id="9" name="Panel accent">
            <a:extLst>
              <a:ext uri="{C183D7F6-B498-43B3-948B-1728B52AA6E4}">
                <adec:decorative xmlns:adec="http://schemas.microsoft.com/office/drawing/2017/decorative" val="1"/>
              </a:ext>
            </a:extLst>
          </p:cNvPr>
          <p:cNvSpPr/>
          <p:nvPr/>
        </p:nvSpPr>
        <p:spPr>
          <a:xfrm>
            <a:off x="411480" y="987552"/>
            <a:ext cx="54864" cy="1645920"/>
          </a:xfrm>
          <a:prstGeom prst="rect">
            <a:avLst/>
          </a:prstGeom>
          <a:solidFill>
            <a:srgbClr val="E07A19"/>
          </a:solidFill>
          <a:ln/>
        </p:spPr>
      </p:sp>
      <p:sp>
        <p:nvSpPr>
          <p:cNvPr id="10" name="Text 8"/>
          <p:cNvSpPr/>
          <p:nvPr/>
        </p:nvSpPr>
        <p:spPr>
          <a:xfrm>
            <a:off x="576072" y="1060704"/>
            <a:ext cx="24231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汽车制造</a:t>
            </a:r>
            <a:endParaRPr lang="en-US" sz="1100" dirty="0"/>
          </a:p>
        </p:txBody>
      </p:sp>
      <p:sp>
        <p:nvSpPr>
          <p:cNvPr id="11" name="Text 9"/>
          <p:cNvSpPr/>
          <p:nvPr/>
        </p:nvSpPr>
        <p:spPr>
          <a:xfrm>
            <a:off x="612648" y="1353312"/>
            <a:ext cx="2377440" cy="1188720"/>
          </a:xfrm>
          <a:prstGeom prst="rect">
            <a:avLst/>
          </a:prstGeom>
          <a:noFill/>
          <a:ln/>
        </p:spPr>
        <p:txBody>
          <a:bodyPr wrap="square" lIns="0" tIns="0" rIns="0" bIns="0" rtlCol="0" anchor="ctr"/>
          <a:lstStyle/>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生产设备实时监控</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产线异常预警</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关键设备预测性维护</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多工厂设备状态汇总</a:t>
            </a:r>
            <a:endParaRPr lang="en-US" sz="900" dirty="0"/>
          </a:p>
        </p:txBody>
      </p:sp>
      <p:sp>
        <p:nvSpPr>
          <p:cNvPr id="12" name="Content panel">
            <a:extLst>
              <a:ext uri="{C183D7F6-B498-43B3-948B-1728B52AA6E4}">
                <adec:decorative xmlns:adec="http://schemas.microsoft.com/office/drawing/2017/decorative" val="1"/>
              </a:ext>
            </a:extLst>
          </p:cNvPr>
          <p:cNvSpPr/>
          <p:nvPr/>
        </p:nvSpPr>
        <p:spPr>
          <a:xfrm>
            <a:off x="3291840" y="987552"/>
            <a:ext cx="2697480" cy="1645920"/>
          </a:xfrm>
          <a:prstGeom prst="rect">
            <a:avLst/>
          </a:prstGeom>
          <a:solidFill>
            <a:srgbClr val="F6F9FC"/>
          </a:solidFill>
          <a:ln w="6350">
            <a:solidFill>
              <a:srgbClr val="C9D8E6"/>
            </a:solidFill>
            <a:prstDash val="solid"/>
          </a:ln>
        </p:spPr>
      </p:sp>
      <p:sp>
        <p:nvSpPr>
          <p:cNvPr id="13" name="Panel accent">
            <a:extLst>
              <a:ext uri="{C183D7F6-B498-43B3-948B-1728B52AA6E4}">
                <adec:decorative xmlns:adec="http://schemas.microsoft.com/office/drawing/2017/decorative" val="1"/>
              </a:ext>
            </a:extLst>
          </p:cNvPr>
          <p:cNvSpPr/>
          <p:nvPr/>
        </p:nvSpPr>
        <p:spPr>
          <a:xfrm>
            <a:off x="3291840" y="987552"/>
            <a:ext cx="54864" cy="1645920"/>
          </a:xfrm>
          <a:prstGeom prst="rect">
            <a:avLst/>
          </a:prstGeom>
          <a:solidFill>
            <a:srgbClr val="1F5C99"/>
          </a:solidFill>
          <a:ln/>
        </p:spPr>
      </p:sp>
      <p:sp>
        <p:nvSpPr>
          <p:cNvPr id="14" name="Text 12"/>
          <p:cNvSpPr/>
          <p:nvPr/>
        </p:nvSpPr>
        <p:spPr>
          <a:xfrm>
            <a:off x="3456432" y="1060704"/>
            <a:ext cx="24231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电子制造</a:t>
            </a:r>
            <a:endParaRPr lang="en-US" sz="1100" dirty="0"/>
          </a:p>
        </p:txBody>
      </p:sp>
      <p:sp>
        <p:nvSpPr>
          <p:cNvPr id="15" name="Text 13"/>
          <p:cNvSpPr/>
          <p:nvPr/>
        </p:nvSpPr>
        <p:spPr>
          <a:xfrm>
            <a:off x="3493008" y="1353312"/>
            <a:ext cx="2377440" cy="1188720"/>
          </a:xfrm>
          <a:prstGeom prst="rect">
            <a:avLst/>
          </a:prstGeom>
          <a:noFill/>
          <a:ln/>
        </p:spPr>
        <p:txBody>
          <a:bodyPr wrap="square" lIns="0" tIns="0" rIns="0" bIns="0" rtlCol="0" anchor="ctr"/>
          <a:lstStyle/>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SMT 设备数据采集</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生产质量趋势分析</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设备运行参数监控</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自动化产线异常识别</a:t>
            </a:r>
            <a:endParaRPr lang="en-US" sz="900" dirty="0"/>
          </a:p>
        </p:txBody>
      </p:sp>
      <p:sp>
        <p:nvSpPr>
          <p:cNvPr id="16" name="Content panel">
            <a:extLst>
              <a:ext uri="{C183D7F6-B498-43B3-948B-1728B52AA6E4}">
                <adec:decorative xmlns:adec="http://schemas.microsoft.com/office/drawing/2017/decorative" val="1"/>
              </a:ext>
            </a:extLst>
          </p:cNvPr>
          <p:cNvSpPr/>
          <p:nvPr/>
        </p:nvSpPr>
        <p:spPr>
          <a:xfrm>
            <a:off x="411480" y="2770632"/>
            <a:ext cx="2697480" cy="1645920"/>
          </a:xfrm>
          <a:prstGeom prst="rect">
            <a:avLst/>
          </a:prstGeom>
          <a:solidFill>
            <a:srgbClr val="F6F9FC"/>
          </a:solidFill>
          <a:ln w="6350">
            <a:solidFill>
              <a:srgbClr val="C9D8E6"/>
            </a:solidFill>
            <a:prstDash val="solid"/>
          </a:ln>
        </p:spPr>
      </p:sp>
      <p:sp>
        <p:nvSpPr>
          <p:cNvPr id="17" name="Panel accent">
            <a:extLst>
              <a:ext uri="{C183D7F6-B498-43B3-948B-1728B52AA6E4}">
                <adec:decorative xmlns:adec="http://schemas.microsoft.com/office/drawing/2017/decorative" val="1"/>
              </a:ext>
            </a:extLst>
          </p:cNvPr>
          <p:cNvSpPr/>
          <p:nvPr/>
        </p:nvSpPr>
        <p:spPr>
          <a:xfrm>
            <a:off x="411480" y="2770632"/>
            <a:ext cx="54864" cy="1645920"/>
          </a:xfrm>
          <a:prstGeom prst="rect">
            <a:avLst/>
          </a:prstGeom>
          <a:solidFill>
            <a:srgbClr val="E07A19"/>
          </a:solidFill>
          <a:ln/>
        </p:spPr>
      </p:sp>
      <p:sp>
        <p:nvSpPr>
          <p:cNvPr id="18" name="Text 16"/>
          <p:cNvSpPr/>
          <p:nvPr/>
        </p:nvSpPr>
        <p:spPr>
          <a:xfrm>
            <a:off x="576072" y="2843784"/>
            <a:ext cx="24231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半导体制造</a:t>
            </a:r>
            <a:endParaRPr lang="en-US" sz="1100" dirty="0"/>
          </a:p>
        </p:txBody>
      </p:sp>
      <p:sp>
        <p:nvSpPr>
          <p:cNvPr id="19" name="Text 17"/>
          <p:cNvSpPr/>
          <p:nvPr/>
        </p:nvSpPr>
        <p:spPr>
          <a:xfrm>
            <a:off x="612648" y="3136392"/>
            <a:ext cx="2377440" cy="1188720"/>
          </a:xfrm>
          <a:prstGeom prst="rect">
            <a:avLst/>
          </a:prstGeom>
          <a:noFill/>
          <a:ln/>
        </p:spPr>
        <p:txBody>
          <a:bodyPr wrap="square" lIns="0" tIns="0" rIns="0" bIns="0" rtlCol="0" anchor="ctr"/>
          <a:lstStyle/>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高可用设备监控</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环境与设备参数采集</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实时告警</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关键设备状态追踪</a:t>
            </a:r>
            <a:endParaRPr lang="en-US" sz="900" dirty="0"/>
          </a:p>
        </p:txBody>
      </p:sp>
      <p:sp>
        <p:nvSpPr>
          <p:cNvPr id="20" name="Content panel">
            <a:extLst>
              <a:ext uri="{C183D7F6-B498-43B3-948B-1728B52AA6E4}">
                <adec:decorative xmlns:adec="http://schemas.microsoft.com/office/drawing/2017/decorative" val="1"/>
              </a:ext>
            </a:extLst>
          </p:cNvPr>
          <p:cNvSpPr/>
          <p:nvPr/>
        </p:nvSpPr>
        <p:spPr>
          <a:xfrm>
            <a:off x="3291840" y="2770632"/>
            <a:ext cx="2697480" cy="1645920"/>
          </a:xfrm>
          <a:prstGeom prst="rect">
            <a:avLst/>
          </a:prstGeom>
          <a:solidFill>
            <a:srgbClr val="F6F9FC"/>
          </a:solidFill>
          <a:ln w="6350">
            <a:solidFill>
              <a:srgbClr val="C9D8E6"/>
            </a:solidFill>
            <a:prstDash val="solid"/>
          </a:ln>
        </p:spPr>
      </p:sp>
      <p:sp>
        <p:nvSpPr>
          <p:cNvPr id="21" name="Panel accent">
            <a:extLst>
              <a:ext uri="{C183D7F6-B498-43B3-948B-1728B52AA6E4}">
                <adec:decorative xmlns:adec="http://schemas.microsoft.com/office/drawing/2017/decorative" val="1"/>
              </a:ext>
            </a:extLst>
          </p:cNvPr>
          <p:cNvSpPr/>
          <p:nvPr/>
        </p:nvSpPr>
        <p:spPr>
          <a:xfrm>
            <a:off x="3291840" y="2770632"/>
            <a:ext cx="54864" cy="1645920"/>
          </a:xfrm>
          <a:prstGeom prst="rect">
            <a:avLst/>
          </a:prstGeom>
          <a:solidFill>
            <a:srgbClr val="1F5C99"/>
          </a:solidFill>
          <a:ln/>
        </p:spPr>
      </p:sp>
      <p:sp>
        <p:nvSpPr>
          <p:cNvPr id="22" name="Text 20"/>
          <p:cNvSpPr/>
          <p:nvPr/>
        </p:nvSpPr>
        <p:spPr>
          <a:xfrm>
            <a:off x="3456432" y="2843784"/>
            <a:ext cx="24231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能源与公用事业</a:t>
            </a:r>
            <a:endParaRPr lang="en-US" sz="1100" dirty="0"/>
          </a:p>
        </p:txBody>
      </p:sp>
      <p:sp>
        <p:nvSpPr>
          <p:cNvPr id="23" name="Text 21"/>
          <p:cNvSpPr/>
          <p:nvPr/>
        </p:nvSpPr>
        <p:spPr>
          <a:xfrm>
            <a:off x="3493008" y="3136392"/>
            <a:ext cx="2377440" cy="1188720"/>
          </a:xfrm>
          <a:prstGeom prst="rect">
            <a:avLst/>
          </a:prstGeom>
          <a:noFill/>
          <a:ln/>
        </p:spPr>
        <p:txBody>
          <a:bodyPr wrap="square" lIns="0" tIns="0" rIns="0" bIns="0" rtlCol="0" anchor="ctr"/>
          <a:lstStyle/>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远程站点管理</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边缘数据处理</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设备健康监控</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弱网络环境本地分析</a:t>
            </a:r>
            <a:endParaRPr lang="en-US" sz="900" dirty="0"/>
          </a:p>
        </p:txBody>
      </p:sp>
      <p:sp>
        <p:nvSpPr>
          <p:cNvPr id="24" name="Text 22"/>
          <p:cNvSpPr/>
          <p:nvPr/>
        </p:nvSpPr>
        <p:spPr>
          <a:xfrm>
            <a:off x="6309360" y="987552"/>
            <a:ext cx="2423160" cy="256032"/>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优先客户画像</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2009814752"/>
              </p:ext>
            </p:extLst>
          </p:nvPr>
        </p:nvGraphicFramePr>
        <p:xfrm>
          <a:off x="6309360" y="1298448"/>
          <a:ext cx="2423160" cy="1975104"/>
        </p:xfrm>
        <a:graphic>
          <a:graphicData uri="http://schemas.openxmlformats.org/drawingml/2006/table">
            <a:tbl>
              <a:tblPr/>
              <a:tblGrid>
                <a:gridCol w="1783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tblGrid>
              <a:tr h="329184">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客户特征</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优先级</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329184">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已有工业设备数字化计划</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2E7D32"/>
                          </a:solidFill>
                          <a:latin typeface="Microsoft YaHei" pitchFamily="34" charset="0"/>
                          <a:ea typeface="Microsoft YaHei" pitchFamily="34" charset="-122"/>
                          <a:cs typeface="Microsoft YaHei" pitchFamily="34" charset="-120"/>
                        </a:rPr>
                        <a:t>高</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正在推进 IT/OT 数据融合</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2E7D32"/>
                          </a:solidFill>
                          <a:latin typeface="Microsoft YaHei" pitchFamily="34" charset="0"/>
                          <a:ea typeface="Microsoft YaHei" pitchFamily="34" charset="-122"/>
                          <a:cs typeface="Microsoft YaHei" pitchFamily="34" charset="-120"/>
                        </a:rPr>
                        <a:t>高</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已使用 Microsoft Azure</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2E7D32"/>
                          </a:solidFill>
                          <a:latin typeface="Microsoft YaHei" pitchFamily="34" charset="0"/>
                          <a:ea typeface="Microsoft YaHei" pitchFamily="34" charset="-122"/>
                          <a:cs typeface="Microsoft YaHei" pitchFamily="34" charset="-120"/>
                        </a:rPr>
                        <a:t>高</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需要跨工厂设备管理</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E07A19"/>
                          </a:solidFill>
                          <a:latin typeface="Microsoft YaHei" pitchFamily="34" charset="0"/>
                          <a:ea typeface="Microsoft YaHei" pitchFamily="34" charset="-122"/>
                          <a:cs typeface="Microsoft YaHei" pitchFamily="34" charset="-120"/>
                        </a:rPr>
                        <a:t>中</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仅需单设备简单联网</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5A6B7B"/>
                          </a:solidFill>
                          <a:latin typeface="Microsoft YaHei" pitchFamily="34" charset="0"/>
                          <a:ea typeface="Microsoft YaHei" pitchFamily="34" charset="-122"/>
                          <a:cs typeface="Microsoft YaHei" pitchFamily="34" charset="-120"/>
                        </a:rPr>
                        <a:t>低</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6" name="Text 23"/>
          <p:cNvSpPr/>
          <p:nvPr/>
        </p:nvSpPr>
        <p:spPr>
          <a:xfrm>
            <a:off x="411480" y="4526280"/>
            <a:ext cx="8321040" cy="274320"/>
          </a:xfrm>
          <a:prstGeom prst="rect">
            <a:avLst/>
          </a:prstGeom>
          <a:noFill/>
          <a:ln/>
        </p:spPr>
        <p:txBody>
          <a:bodyPr wrap="square" lIns="0" tIns="0" rIns="0" bIns="0" rtlCol="0" anchor="ctr"/>
          <a:lstStyle/>
          <a:p>
            <a:pPr marL="0" indent="0">
              <a:buNone/>
            </a:pPr>
            <a:r>
              <a:rPr lang="zh-Hans" sz="950" i="1">
                <a:solidFill>
                  <a:srgbClr val="5A6B7B"/>
                </a:solidFill>
                <a:latin typeface="Microsoft YaHei" pitchFamily="34" charset="0"/>
                <a:ea typeface="Microsoft YaHei" pitchFamily="34" charset="-122"/>
                <a:cs typeface="Microsoft YaHei" pitchFamily="34" charset="-120"/>
              </a:rPr>
              <a:t>首批市场活动优先面向具有明确设备连接、边缘分析或预测性维护需求的制造企业。</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APAC 上市与区域计划</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亚太地区推广</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sp>
        <p:nvSpPr>
          <p:cNvPr id="8" name="Text 6"/>
          <p:cNvSpPr/>
          <p:nvPr/>
        </p:nvSpPr>
        <p:spPr>
          <a:xfrm>
            <a:off x="411480" y="969264"/>
            <a:ext cx="53949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Wave 1 计划</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2324433710"/>
              </p:ext>
            </p:extLst>
          </p:nvPr>
        </p:nvGraphicFramePr>
        <p:xfrm>
          <a:off x="411480" y="1261872"/>
          <a:ext cx="5394960" cy="1389888"/>
        </p:xfrm>
        <a:graphic>
          <a:graphicData uri="http://schemas.openxmlformats.org/drawingml/2006/table">
            <a:tbl>
              <a:tblPr/>
              <a:tblGrid>
                <a:gridCol w="7772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47472">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市场</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目标上市日</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市场准备状态</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当前重点</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347472">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中国</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2026-11-15</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2E7D32"/>
                          </a:solidFill>
                          <a:latin typeface="Microsoft YaHei" pitchFamily="34" charset="0"/>
                          <a:ea typeface="Microsoft YaHei" pitchFamily="34" charset="-122"/>
                          <a:cs typeface="Microsoft YaHei" pitchFamily="34" charset="-120"/>
                        </a:rPr>
                        <a:t>赛道表现</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渠道动员与重点客户沟通</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日本</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2026-11-15</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C62828"/>
                          </a:solidFill>
                          <a:latin typeface="Microsoft YaHei" pitchFamily="34" charset="0"/>
                          <a:ea typeface="Microsoft YaHei" pitchFamily="34" charset="-122"/>
                          <a:cs typeface="Microsoft YaHei" pitchFamily="34" charset="-120"/>
                        </a:rPr>
                        <a:t>处于风险之中</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合作伙伴培训与认证进度</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新加坡</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2026-11-15</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b="1">
                          <a:solidFill>
                            <a:srgbClr val="2E7D32"/>
                          </a:solidFill>
                          <a:latin typeface="Microsoft YaHei" pitchFamily="34" charset="0"/>
                          <a:ea typeface="Microsoft YaHei" pitchFamily="34" charset="-122"/>
                          <a:cs typeface="Microsoft YaHei" pitchFamily="34" charset="-120"/>
                        </a:rPr>
                        <a:t>赛道表现</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900">
                          <a:solidFill>
                            <a:srgbClr val="1B2A41"/>
                          </a:solidFill>
                          <a:latin typeface="Microsoft YaHei" pitchFamily="34" charset="0"/>
                          <a:ea typeface="Microsoft YaHei" pitchFamily="34" charset="-122"/>
                          <a:cs typeface="Microsoft YaHei" pitchFamily="34" charset="-120"/>
                        </a:rPr>
                        <a:t>区域示范客户与活动准备</a:t>
                      </a:r>
                      <a:endParaRPr lang="en-US" sz="90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Content panel">
            <a:extLst>
              <a:ext uri="{C183D7F6-B498-43B3-948B-1728B52AA6E4}">
                <adec:decorative xmlns:adec="http://schemas.microsoft.com/office/drawing/2017/decorative" val="1"/>
              </a:ext>
            </a:extLst>
          </p:cNvPr>
          <p:cNvSpPr/>
          <p:nvPr/>
        </p:nvSpPr>
        <p:spPr>
          <a:xfrm>
            <a:off x="411480" y="2788920"/>
            <a:ext cx="5394960" cy="1920240"/>
          </a:xfrm>
          <a:prstGeom prst="rect">
            <a:avLst/>
          </a:prstGeom>
          <a:solidFill>
            <a:srgbClr val="F6F9FC"/>
          </a:solidFill>
          <a:ln w="6350">
            <a:solidFill>
              <a:srgbClr val="C9D8E6"/>
            </a:solidFill>
            <a:prstDash val="solid"/>
          </a:ln>
        </p:spPr>
      </p:sp>
      <p:sp>
        <p:nvSpPr>
          <p:cNvPr id="11" name="Panel accent">
            <a:extLst>
              <a:ext uri="{C183D7F6-B498-43B3-948B-1728B52AA6E4}">
                <adec:decorative xmlns:adec="http://schemas.microsoft.com/office/drawing/2017/decorative" val="1"/>
              </a:ext>
            </a:extLst>
          </p:cNvPr>
          <p:cNvSpPr/>
          <p:nvPr/>
        </p:nvSpPr>
        <p:spPr>
          <a:xfrm>
            <a:off x="411480" y="2788920"/>
            <a:ext cx="54864" cy="1920240"/>
          </a:xfrm>
          <a:prstGeom prst="rect">
            <a:avLst/>
          </a:prstGeom>
          <a:solidFill>
            <a:srgbClr val="1F5C99"/>
          </a:solidFill>
          <a:ln/>
        </p:spPr>
      </p:sp>
      <p:sp>
        <p:nvSpPr>
          <p:cNvPr id="12" name="Text 9"/>
          <p:cNvSpPr/>
          <p:nvPr/>
        </p:nvSpPr>
        <p:spPr>
          <a:xfrm>
            <a:off x="576072" y="2862072"/>
            <a:ext cx="512064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区域上市原则</a:t>
            </a:r>
            <a:endParaRPr lang="en-US" sz="1100" dirty="0"/>
          </a:p>
        </p:txBody>
      </p:sp>
      <p:sp>
        <p:nvSpPr>
          <p:cNvPr id="13" name="Text 10"/>
          <p:cNvSpPr/>
          <p:nvPr/>
        </p:nvSpPr>
        <p:spPr>
          <a:xfrm>
            <a:off x="621792" y="3145536"/>
            <a:ext cx="5029200" cy="1463040"/>
          </a:xfrm>
          <a:prstGeom prst="rect">
            <a:avLst/>
          </a:prstGeom>
          <a:noFill/>
          <a:ln/>
        </p:spPr>
        <p:txBody>
          <a:bodyPr wrap="square" lIns="0" tIns="0" rIns="0" bIns="0" rtlCol="0" anchor="ctr"/>
          <a:lstStyle/>
          <a:p>
            <a:pPr marL="342900" indent="-342900">
              <a:spcAft>
                <a:spcPts val="2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使用统一产品价值主张</a:t>
            </a:r>
            <a:endParaRPr lang="en-US" sz="950" dirty="0"/>
          </a:p>
          <a:p>
            <a:pPr marL="342900" indent="-342900">
              <a:spcAft>
                <a:spcPts val="2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根据当地行业重点调整案例</a:t>
            </a:r>
            <a:endParaRPr lang="en-US" sz="950" dirty="0"/>
          </a:p>
          <a:p>
            <a:pPr marL="342900" indent="-342900">
              <a:spcAft>
                <a:spcPts val="2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销售材料采用本地语言</a:t>
            </a:r>
            <a:endParaRPr lang="en-US" sz="950" dirty="0"/>
          </a:p>
          <a:p>
            <a:pPr marL="342900" indent="-342900">
              <a:spcAft>
                <a:spcPts val="2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上市承诺必须与认证和库存状态一致</a:t>
            </a:r>
            <a:endParaRPr lang="en-US" sz="950" dirty="0"/>
          </a:p>
          <a:p>
            <a:pPr marL="342900" indent="-342900">
              <a:spcAft>
                <a:spcPts val="2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所有对外发布日期须经项目团队确认</a:t>
            </a:r>
            <a:endParaRPr lang="en-US" sz="950" dirty="0"/>
          </a:p>
        </p:txBody>
      </p:sp>
      <p:sp>
        <p:nvSpPr>
          <p:cNvPr id="14" name="Content panel">
            <a:extLst>
              <a:ext uri="{C183D7F6-B498-43B3-948B-1728B52AA6E4}">
                <adec:decorative xmlns:adec="http://schemas.microsoft.com/office/drawing/2017/decorative" val="1"/>
              </a:ext>
            </a:extLst>
          </p:cNvPr>
          <p:cNvSpPr/>
          <p:nvPr/>
        </p:nvSpPr>
        <p:spPr>
          <a:xfrm>
            <a:off x="5989320" y="969264"/>
            <a:ext cx="2743200" cy="1207008"/>
          </a:xfrm>
          <a:prstGeom prst="rect">
            <a:avLst/>
          </a:prstGeom>
          <a:solidFill>
            <a:srgbClr val="F6F9FC"/>
          </a:solidFill>
          <a:ln w="6350">
            <a:solidFill>
              <a:srgbClr val="C9D8E6"/>
            </a:solidFill>
            <a:prstDash val="solid"/>
          </a:ln>
        </p:spPr>
      </p:sp>
      <p:sp>
        <p:nvSpPr>
          <p:cNvPr id="15" name="Panel accent">
            <a:extLst>
              <a:ext uri="{C183D7F6-B498-43B3-948B-1728B52AA6E4}">
                <adec:decorative xmlns:adec="http://schemas.microsoft.com/office/drawing/2017/decorative" val="1"/>
              </a:ext>
            </a:extLst>
          </p:cNvPr>
          <p:cNvSpPr/>
          <p:nvPr/>
        </p:nvSpPr>
        <p:spPr>
          <a:xfrm>
            <a:off x="5989320" y="969264"/>
            <a:ext cx="54864" cy="1207008"/>
          </a:xfrm>
          <a:prstGeom prst="rect">
            <a:avLst/>
          </a:prstGeom>
          <a:solidFill>
            <a:srgbClr val="E07A19"/>
          </a:solidFill>
          <a:ln/>
        </p:spPr>
      </p:sp>
      <p:sp>
        <p:nvSpPr>
          <p:cNvPr id="16" name="Text 13"/>
          <p:cNvSpPr/>
          <p:nvPr/>
        </p:nvSpPr>
        <p:spPr>
          <a:xfrm>
            <a:off x="6153912" y="1042416"/>
            <a:ext cx="246888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Wave 2 候选市场</a:t>
            </a:r>
            <a:endParaRPr lang="en-US" sz="1100" dirty="0"/>
          </a:p>
        </p:txBody>
      </p:sp>
      <p:sp>
        <p:nvSpPr>
          <p:cNvPr id="17" name="Text 14"/>
          <p:cNvSpPr/>
          <p:nvPr/>
        </p:nvSpPr>
        <p:spPr>
          <a:xfrm>
            <a:off x="6172200" y="1417320"/>
            <a:ext cx="2423160" cy="548640"/>
          </a:xfrm>
          <a:prstGeom prst="rect">
            <a:avLst/>
          </a:prstGeom>
          <a:noFill/>
          <a:ln/>
        </p:spPr>
        <p:txBody>
          <a:bodyPr wrap="square" lIns="0" tIns="0" rIns="0" bIns="0" rtlCol="0" anchor="ctr"/>
          <a:lstStyle/>
          <a:p>
            <a:pPr marL="0" indent="0">
              <a:buNone/>
            </a:pPr>
            <a:r>
              <a:rPr lang="zh-Hans" sz="1100">
                <a:solidFill>
                  <a:srgbClr val="1B2A41"/>
                </a:solidFill>
                <a:latin typeface="Microsoft YaHei" pitchFamily="34" charset="0"/>
                <a:ea typeface="Microsoft YaHei" pitchFamily="34" charset="-122"/>
                <a:cs typeface="Microsoft YaHei" pitchFamily="34" charset="-120"/>
              </a:rPr>
              <a:t>韩国  ·  澳大利亚  ·  马来西亚</a:t>
            </a:r>
            <a:endParaRPr lang="en-US" sz="1100" dirty="0"/>
          </a:p>
        </p:txBody>
      </p:sp>
      <p:sp>
        <p:nvSpPr>
          <p:cNvPr id="18" name="Content panel">
            <a:extLst>
              <a:ext uri="{C183D7F6-B498-43B3-948B-1728B52AA6E4}">
                <adec:decorative xmlns:adec="http://schemas.microsoft.com/office/drawing/2017/decorative" val="1"/>
              </a:ext>
            </a:extLst>
          </p:cNvPr>
          <p:cNvSpPr/>
          <p:nvPr/>
        </p:nvSpPr>
        <p:spPr>
          <a:xfrm>
            <a:off x="5989320" y="2331720"/>
            <a:ext cx="2743200" cy="2377440"/>
          </a:xfrm>
          <a:prstGeom prst="rect">
            <a:avLst/>
          </a:prstGeom>
          <a:solidFill>
            <a:srgbClr val="F6F9FC"/>
          </a:solidFill>
          <a:ln w="6350">
            <a:solidFill>
              <a:srgbClr val="C9D8E6"/>
            </a:solidFill>
            <a:prstDash val="solid"/>
          </a:ln>
        </p:spPr>
      </p:sp>
      <p:sp>
        <p:nvSpPr>
          <p:cNvPr id="19" name="Panel accent">
            <a:extLst>
              <a:ext uri="{C183D7F6-B498-43B3-948B-1728B52AA6E4}">
                <adec:decorative xmlns:adec="http://schemas.microsoft.com/office/drawing/2017/decorative" val="1"/>
              </a:ext>
            </a:extLst>
          </p:cNvPr>
          <p:cNvSpPr/>
          <p:nvPr/>
        </p:nvSpPr>
        <p:spPr>
          <a:xfrm>
            <a:off x="5989320" y="2331720"/>
            <a:ext cx="54864" cy="2377440"/>
          </a:xfrm>
          <a:prstGeom prst="rect">
            <a:avLst/>
          </a:prstGeom>
          <a:solidFill>
            <a:srgbClr val="C62828"/>
          </a:solidFill>
          <a:ln/>
        </p:spPr>
      </p:sp>
      <p:sp>
        <p:nvSpPr>
          <p:cNvPr id="20" name="Text 17"/>
          <p:cNvSpPr/>
          <p:nvPr/>
        </p:nvSpPr>
        <p:spPr>
          <a:xfrm>
            <a:off x="6153912" y="2404872"/>
            <a:ext cx="246888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待确认事项</a:t>
            </a:r>
            <a:endParaRPr lang="en-US" sz="1100" dirty="0"/>
          </a:p>
        </p:txBody>
      </p:sp>
      <p:sp>
        <p:nvSpPr>
          <p:cNvPr id="21" name="Text 18"/>
          <p:cNvSpPr/>
          <p:nvPr/>
        </p:nvSpPr>
        <p:spPr>
          <a:xfrm>
            <a:off x="6172200" y="2697480"/>
            <a:ext cx="2423160" cy="1874520"/>
          </a:xfrm>
          <a:prstGeom prst="rect">
            <a:avLst/>
          </a:prstGeom>
          <a:noFill/>
          <a:ln/>
        </p:spPr>
        <p:txBody>
          <a:bodyPr wrap="square" lIns="0" tIns="0" rIns="0" bIns="0" rtlCol="0" anchor="ctr"/>
          <a:lstStyle/>
          <a:p>
            <a:pPr marL="342900" indent="-342900">
              <a:spcAft>
                <a:spcPts val="4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日本市场认证是否支持原计划日期</a:t>
            </a:r>
            <a:endParaRPr lang="en-US" sz="950" dirty="0"/>
          </a:p>
          <a:p>
            <a:pPr marL="342900" indent="-342900">
              <a:spcAft>
                <a:spcPts val="4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各区域首批可销售库存数量</a:t>
            </a:r>
            <a:endParaRPr lang="en-US" sz="950" dirty="0"/>
          </a:p>
          <a:p>
            <a:pPr marL="342900" indent="-342900">
              <a:spcAft>
                <a:spcPts val="4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日本语销售和支持材料完成时间</a:t>
            </a:r>
            <a:endParaRPr lang="en-US" sz="950" dirty="0"/>
          </a:p>
          <a:p>
            <a:pPr marL="342900" indent="-342900">
              <a:spcAft>
                <a:spcPts val="400"/>
              </a:spcAft>
              <a:buSzPct val="100000"/>
              <a:buChar char="•"/>
            </a:pPr>
            <a:r>
              <a:rPr lang="zh-Hans" sz="950">
                <a:solidFill>
                  <a:srgbClr val="1B2A41"/>
                </a:solidFill>
                <a:latin typeface="Microsoft YaHei" pitchFamily="34" charset="0"/>
                <a:ea typeface="Microsoft YaHei" pitchFamily="34" charset="-122"/>
                <a:cs typeface="Microsoft YaHei" pitchFamily="34" charset="-120"/>
              </a:rPr>
              <a:t>新加坡示范客户是否允许对外引用</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销售准备情况</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销售准备</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3456150630"/>
              </p:ext>
            </p:extLst>
          </p:nvPr>
        </p:nvGraphicFramePr>
        <p:xfrm>
          <a:off x="411480" y="987552"/>
          <a:ext cx="5532120" cy="2756916"/>
        </p:xfrm>
        <a:graphic>
          <a:graphicData uri="http://schemas.openxmlformats.org/drawingml/2006/table">
            <a:tbl>
              <a:tblPr/>
              <a:tblGrid>
                <a:gridCol w="1600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06324">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销售资产</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状态</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计划完成时间</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负责人</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产品概述</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2E7D32"/>
                          </a:solidFill>
                          <a:latin typeface="Microsoft YaHei" pitchFamily="34" charset="0"/>
                          <a:ea typeface="Microsoft YaHei" pitchFamily="34" charset="-122"/>
                          <a:cs typeface="Microsoft YaHei" pitchFamily="34" charset="-120"/>
                        </a:rPr>
                        <a:t>完工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2026-09-05</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产品营销</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销售演示</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2E7D32"/>
                          </a:solidFill>
                          <a:latin typeface="Microsoft YaHei" pitchFamily="34" charset="0"/>
                          <a:ea typeface="Microsoft YaHei" pitchFamily="34" charset="-122"/>
                          <a:cs typeface="Microsoft YaHei" pitchFamily="34" charset="-120"/>
                        </a:rPr>
                        <a:t>完工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2026-09-18</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教室启用</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解决方案简报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2E7D32"/>
                          </a:solidFill>
                          <a:latin typeface="Microsoft YaHei" pitchFamily="34" charset="0"/>
                          <a:ea typeface="Microsoft YaHei" pitchFamily="34" charset="-122"/>
                          <a:cs typeface="Microsoft YaHei" pitchFamily="34" charset="-120"/>
                        </a:rPr>
                        <a:t>完工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2026-09-20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产品营销</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竞技战卡</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E07A19"/>
                          </a:solidFill>
                          <a:latin typeface="Microsoft YaHei" pitchFamily="34" charset="0"/>
                          <a:ea typeface="Microsoft YaHei" pitchFamily="34" charset="-122"/>
                          <a:cs typeface="Microsoft YaHei" pitchFamily="34" charset="-120"/>
                        </a:rPr>
                        <a:t>进行中</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2026-10-02</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销售运营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4"/>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定价指南</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C62828"/>
                          </a:solidFill>
                          <a:latin typeface="Microsoft YaHei" pitchFamily="34" charset="0"/>
                          <a:ea typeface="Microsoft YaHei" pitchFamily="34" charset="-122"/>
                          <a:cs typeface="Microsoft YaHei" pitchFamily="34" charset="-120"/>
                        </a:rPr>
                        <a:t>待批准</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2026-09-28</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产品营销</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5"/>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演示指南</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E07A19"/>
                          </a:solidFill>
                          <a:latin typeface="Microsoft YaHei" pitchFamily="34" charset="0"/>
                          <a:ea typeface="Microsoft YaHei" pitchFamily="34" charset="-122"/>
                          <a:cs typeface="Microsoft YaHei" pitchFamily="34" charset="-120"/>
                        </a:rPr>
                        <a:t>进行中</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2026-10-05</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解决方案工程</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6"/>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客户常见问题解答</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E07A19"/>
                          </a:solidFill>
                          <a:latin typeface="Microsoft YaHei" pitchFamily="34" charset="0"/>
                          <a:ea typeface="Microsoft YaHei" pitchFamily="34" charset="-122"/>
                          <a:cs typeface="Microsoft YaHei" pitchFamily="34" charset="-120"/>
                        </a:rPr>
                        <a:t>进行中</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2026-10-08</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产品与服务</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7"/>
                  </a:ext>
                </a:extLst>
              </a:tr>
              <a:tr h="30632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提案模板</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b="1">
                          <a:solidFill>
                            <a:srgbClr val="1F5C99"/>
                          </a:solidFill>
                          <a:latin typeface="Microsoft YaHei" pitchFamily="34" charset="0"/>
                          <a:ea typeface="Microsoft YaHei" pitchFamily="34" charset="-122"/>
                          <a:cs typeface="Microsoft YaHei" pitchFamily="34" charset="-120"/>
                        </a:rPr>
                        <a:t>赛道表现</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2026-10-09</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销售运营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Content panel">
            <a:extLst>
              <a:ext uri="{C183D7F6-B498-43B3-948B-1728B52AA6E4}">
                <adec:decorative xmlns:adec="http://schemas.microsoft.com/office/drawing/2017/decorative" val="1"/>
              </a:ext>
            </a:extLst>
          </p:cNvPr>
          <p:cNvSpPr/>
          <p:nvPr/>
        </p:nvSpPr>
        <p:spPr>
          <a:xfrm>
            <a:off x="6126480" y="987552"/>
            <a:ext cx="2606040" cy="1783080"/>
          </a:xfrm>
          <a:prstGeom prst="rect">
            <a:avLst/>
          </a:prstGeom>
          <a:solidFill>
            <a:srgbClr val="F6F9FC"/>
          </a:solidFill>
          <a:ln w="6350">
            <a:solidFill>
              <a:srgbClr val="C9D8E6"/>
            </a:solidFill>
            <a:prstDash val="solid"/>
          </a:ln>
        </p:spPr>
      </p:sp>
      <p:sp>
        <p:nvSpPr>
          <p:cNvPr id="10" name="Panel accent">
            <a:extLst>
              <a:ext uri="{C183D7F6-B498-43B3-948B-1728B52AA6E4}">
                <adec:decorative xmlns:adec="http://schemas.microsoft.com/office/drawing/2017/decorative" val="1"/>
              </a:ext>
            </a:extLst>
          </p:cNvPr>
          <p:cNvSpPr/>
          <p:nvPr/>
        </p:nvSpPr>
        <p:spPr>
          <a:xfrm>
            <a:off x="6126480" y="987552"/>
            <a:ext cx="54864" cy="1783080"/>
          </a:xfrm>
          <a:prstGeom prst="rect">
            <a:avLst/>
          </a:prstGeom>
          <a:solidFill>
            <a:srgbClr val="C62828"/>
          </a:solidFill>
          <a:ln/>
        </p:spPr>
      </p:sp>
      <p:sp>
        <p:nvSpPr>
          <p:cNvPr id="11" name="Text 8"/>
          <p:cNvSpPr/>
          <p:nvPr/>
        </p:nvSpPr>
        <p:spPr>
          <a:xfrm>
            <a:off x="6291072" y="1060704"/>
            <a:ext cx="233172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关注点</a:t>
            </a:r>
            <a:endParaRPr lang="en-US" sz="1100" dirty="0"/>
          </a:p>
        </p:txBody>
      </p:sp>
      <p:sp>
        <p:nvSpPr>
          <p:cNvPr id="12" name="Text 9"/>
          <p:cNvSpPr/>
          <p:nvPr/>
        </p:nvSpPr>
        <p:spPr>
          <a:xfrm>
            <a:off x="6309360" y="1335024"/>
            <a:ext cx="2286000" cy="1371600"/>
          </a:xfrm>
          <a:prstGeom prst="rect">
            <a:avLst/>
          </a:prstGeom>
          <a:noFill/>
          <a:ln/>
        </p:spPr>
        <p:txBody>
          <a:bodyPr wrap="square" lIns="0" tIns="0" rIns="0" bIns="0" rtlCol="0" anchor="ctr"/>
          <a:lstStyle/>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Pricing Approval 尚未完成</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Battlecard 需补充竞品信息</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Demo Guide 未完成最终验证</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客户常见问题 需与知识库一致</a:t>
            </a:r>
            <a:endParaRPr lang="en-US" sz="900" dirty="0"/>
          </a:p>
        </p:txBody>
      </p:sp>
      <p:sp>
        <p:nvSpPr>
          <p:cNvPr id="13" name="Content panel">
            <a:extLst>
              <a:ext uri="{C183D7F6-B498-43B3-948B-1728B52AA6E4}">
                <adec:decorative xmlns:adec="http://schemas.microsoft.com/office/drawing/2017/decorative" val="1"/>
              </a:ext>
            </a:extLst>
          </p:cNvPr>
          <p:cNvSpPr/>
          <p:nvPr/>
        </p:nvSpPr>
        <p:spPr>
          <a:xfrm>
            <a:off x="6126480" y="2926080"/>
            <a:ext cx="2606040" cy="1783080"/>
          </a:xfrm>
          <a:prstGeom prst="rect">
            <a:avLst/>
          </a:prstGeom>
          <a:solidFill>
            <a:srgbClr val="F6F9FC"/>
          </a:solidFill>
          <a:ln w="6350">
            <a:solidFill>
              <a:srgbClr val="C9D8E6"/>
            </a:solidFill>
            <a:prstDash val="solid"/>
          </a:ln>
        </p:spPr>
      </p:sp>
      <p:sp>
        <p:nvSpPr>
          <p:cNvPr id="14" name="Panel accent">
            <a:extLst>
              <a:ext uri="{C183D7F6-B498-43B3-948B-1728B52AA6E4}">
                <adec:decorative xmlns:adec="http://schemas.microsoft.com/office/drawing/2017/decorative" val="1"/>
              </a:ext>
            </a:extLst>
          </p:cNvPr>
          <p:cNvSpPr/>
          <p:nvPr/>
        </p:nvSpPr>
        <p:spPr>
          <a:xfrm>
            <a:off x="6126480" y="2926080"/>
            <a:ext cx="54864" cy="1783080"/>
          </a:xfrm>
          <a:prstGeom prst="rect">
            <a:avLst/>
          </a:prstGeom>
          <a:solidFill>
            <a:srgbClr val="1F5C99"/>
          </a:solidFill>
          <a:ln/>
        </p:spPr>
      </p:sp>
      <p:sp>
        <p:nvSpPr>
          <p:cNvPr id="15" name="Text 12"/>
          <p:cNvSpPr/>
          <p:nvPr/>
        </p:nvSpPr>
        <p:spPr>
          <a:xfrm>
            <a:off x="6291072" y="2999232"/>
            <a:ext cx="233172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建议动作</a:t>
            </a:r>
            <a:endParaRPr lang="en-US" sz="1100" dirty="0"/>
          </a:p>
        </p:txBody>
      </p:sp>
      <p:sp>
        <p:nvSpPr>
          <p:cNvPr id="16" name="Text 13"/>
          <p:cNvSpPr/>
          <p:nvPr/>
        </p:nvSpPr>
        <p:spPr>
          <a:xfrm>
            <a:off x="6309360" y="3273552"/>
            <a:ext cx="2286000" cy="1371600"/>
          </a:xfrm>
          <a:prstGeom prst="rect">
            <a:avLst/>
          </a:prstGeom>
          <a:noFill/>
          <a:ln/>
        </p:spPr>
        <p:txBody>
          <a:bodyPr wrap="square" lIns="0" tIns="0" rIns="0" bIns="0" rtlCol="0" anchor="ctr"/>
          <a:lstStyle/>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价格审批后更新销售材料</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为重点客户备演示脚本</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发布竞争分析快速参考卡</a:t>
            </a:r>
            <a:endParaRPr lang="en-US" sz="900" dirty="0"/>
          </a:p>
          <a:p>
            <a:pPr marL="342900" indent="-342900">
              <a:spcAft>
                <a:spcPts val="3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建立销售问题反馈渠道</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合作伙伴与培训准备</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合作伙伴与培训准备</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sp>
        <p:nvSpPr>
          <p:cNvPr id="8" name="Text 6"/>
          <p:cNvSpPr/>
          <p:nvPr/>
        </p:nvSpPr>
        <p:spPr>
          <a:xfrm>
            <a:off x="411480" y="969264"/>
            <a:ext cx="457200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培训完成率 vs 目标 90%</a:t>
            </a:r>
            <a:endParaRPr lang="en-US" sz="1100" dirty="0"/>
          </a:p>
        </p:txBody>
      </p:sp>
      <p:sp>
        <p:nvSpPr>
          <p:cNvPr id="9" name="Text 7"/>
          <p:cNvSpPr/>
          <p:nvPr/>
        </p:nvSpPr>
        <p:spPr>
          <a:xfrm>
            <a:off x="411480" y="1325880"/>
            <a:ext cx="868680" cy="310896"/>
          </a:xfrm>
          <a:prstGeom prst="rect">
            <a:avLst/>
          </a:prstGeom>
          <a:noFill/>
          <a:ln/>
        </p:spPr>
        <p:txBody>
          <a:bodyPr wrap="square" lIns="0" tIns="0" rIns="0" bIns="0" rtlCol="0" anchor="ct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中国</a:t>
            </a:r>
            <a:endParaRPr lang="en-US" sz="950" dirty="0"/>
          </a:p>
        </p:txBody>
      </p:sp>
      <p:sp>
        <p:nvSpPr>
          <p:cNvPr id="10" name="Progress track">
            <a:extLst>
              <a:ext uri="{C183D7F6-B498-43B3-948B-1728B52AA6E4}">
                <adec:decorative xmlns:adec="http://schemas.microsoft.com/office/drawing/2017/decorative" val="1"/>
              </a:ext>
            </a:extLst>
          </p:cNvPr>
          <p:cNvSpPr/>
          <p:nvPr/>
        </p:nvSpPr>
        <p:spPr>
          <a:xfrm>
            <a:off x="1325880" y="1380744"/>
            <a:ext cx="2743200" cy="201168"/>
          </a:xfrm>
          <a:prstGeom prst="rect">
            <a:avLst/>
          </a:prstGeom>
          <a:solidFill>
            <a:srgbClr val="E8F0F7"/>
          </a:solidFill>
          <a:ln/>
        </p:spPr>
      </p:sp>
      <p:sp>
        <p:nvSpPr>
          <p:cNvPr id="11" name="Progress fill">
            <a:extLst>
              <a:ext uri="{C183D7F6-B498-43B3-948B-1728B52AA6E4}">
                <adec:decorative xmlns:adec="http://schemas.microsoft.com/office/drawing/2017/decorative" val="1"/>
              </a:ext>
            </a:extLst>
          </p:cNvPr>
          <p:cNvSpPr/>
          <p:nvPr/>
        </p:nvSpPr>
        <p:spPr>
          <a:xfrm>
            <a:off x="1325880" y="1380744"/>
            <a:ext cx="2331720" cy="201168"/>
          </a:xfrm>
          <a:prstGeom prst="rect">
            <a:avLst/>
          </a:prstGeom>
          <a:solidFill>
            <a:srgbClr val="E07A19"/>
          </a:solidFill>
          <a:ln/>
        </p:spPr>
      </p:sp>
      <p:sp>
        <p:nvSpPr>
          <p:cNvPr id="12" name="Text 10"/>
          <p:cNvSpPr/>
          <p:nvPr/>
        </p:nvSpPr>
        <p:spPr>
          <a:xfrm>
            <a:off x="4160520" y="1325880"/>
            <a:ext cx="1645920" cy="310896"/>
          </a:xfrm>
          <a:prstGeom prst="rect">
            <a:avLst/>
          </a:prstGeom>
          <a:noFill/>
          <a:ln/>
        </p:spPr>
        <p:txBody>
          <a:bodyPr wrap="square" lIns="0" tIns="0" rIns="0" bIns="0" rtlCol="0" anchor="ctr"/>
          <a:lstStyle/>
          <a:p>
            <a:pPr marL="0" indent="0">
              <a:buNone/>
            </a:pPr>
            <a:r>
              <a:rPr lang="zh-Hans" sz="900" b="1">
                <a:solidFill>
                  <a:srgbClr val="E07A19"/>
                </a:solidFill>
                <a:latin typeface="Microsoft YaHei" pitchFamily="34" charset="0"/>
                <a:ea typeface="Microsoft YaHei" pitchFamily="34" charset="-122"/>
                <a:cs typeface="Microsoft YaHei" pitchFamily="34" charset="-120"/>
              </a:rPr>
              <a:t>85%  ·  接近目标</a:t>
            </a:r>
            <a:endParaRPr lang="en-US" sz="900" dirty="0"/>
          </a:p>
        </p:txBody>
      </p:sp>
      <p:sp>
        <p:nvSpPr>
          <p:cNvPr id="13" name="Text 11"/>
          <p:cNvSpPr/>
          <p:nvPr/>
        </p:nvSpPr>
        <p:spPr>
          <a:xfrm>
            <a:off x="411480" y="1801368"/>
            <a:ext cx="868680" cy="310896"/>
          </a:xfrm>
          <a:prstGeom prst="rect">
            <a:avLst/>
          </a:prstGeom>
          <a:noFill/>
          <a:ln/>
        </p:spPr>
        <p:txBody>
          <a:bodyPr wrap="square" lIns="0" tIns="0" rIns="0" bIns="0" rtlCol="0" anchor="ct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新加坡</a:t>
            </a:r>
            <a:endParaRPr lang="en-US" sz="950" dirty="0"/>
          </a:p>
        </p:txBody>
      </p:sp>
      <p:sp>
        <p:nvSpPr>
          <p:cNvPr id="14" name="Progress track">
            <a:extLst>
              <a:ext uri="{C183D7F6-B498-43B3-948B-1728B52AA6E4}">
                <adec:decorative xmlns:adec="http://schemas.microsoft.com/office/drawing/2017/decorative" val="1"/>
              </a:ext>
            </a:extLst>
          </p:cNvPr>
          <p:cNvSpPr/>
          <p:nvPr/>
        </p:nvSpPr>
        <p:spPr>
          <a:xfrm>
            <a:off x="1325880" y="1856232"/>
            <a:ext cx="2743200" cy="201168"/>
          </a:xfrm>
          <a:prstGeom prst="rect">
            <a:avLst/>
          </a:prstGeom>
          <a:solidFill>
            <a:srgbClr val="E8F0F7"/>
          </a:solidFill>
          <a:ln/>
        </p:spPr>
      </p:sp>
      <p:sp>
        <p:nvSpPr>
          <p:cNvPr id="15" name="Progress fill">
            <a:extLst>
              <a:ext uri="{C183D7F6-B498-43B3-948B-1728B52AA6E4}">
                <adec:decorative xmlns:adec="http://schemas.microsoft.com/office/drawing/2017/decorative" val="1"/>
              </a:ext>
            </a:extLst>
          </p:cNvPr>
          <p:cNvSpPr/>
          <p:nvPr/>
        </p:nvSpPr>
        <p:spPr>
          <a:xfrm>
            <a:off x="1325880" y="1856232"/>
            <a:ext cx="1920240" cy="201168"/>
          </a:xfrm>
          <a:prstGeom prst="rect">
            <a:avLst/>
          </a:prstGeom>
          <a:solidFill>
            <a:srgbClr val="E07A19"/>
          </a:solidFill>
          <a:ln/>
        </p:spPr>
      </p:sp>
      <p:sp>
        <p:nvSpPr>
          <p:cNvPr id="16" name="Text 14"/>
          <p:cNvSpPr/>
          <p:nvPr/>
        </p:nvSpPr>
        <p:spPr>
          <a:xfrm>
            <a:off x="4160520" y="1801368"/>
            <a:ext cx="1645920" cy="310896"/>
          </a:xfrm>
          <a:prstGeom prst="rect">
            <a:avLst/>
          </a:prstGeom>
          <a:noFill/>
          <a:ln/>
        </p:spPr>
        <p:txBody>
          <a:bodyPr wrap="square" lIns="0" tIns="0" rIns="0" bIns="0" rtlCol="0" anchor="ctr"/>
          <a:lstStyle/>
          <a:p>
            <a:pPr marL="0" indent="0">
              <a:buNone/>
            </a:pPr>
            <a:r>
              <a:rPr lang="zh-Hans" sz="900" b="1">
                <a:solidFill>
                  <a:srgbClr val="E07A19"/>
                </a:solidFill>
                <a:latin typeface="Microsoft YaHei" pitchFamily="34" charset="0"/>
                <a:ea typeface="Microsoft YaHei" pitchFamily="34" charset="-122"/>
                <a:cs typeface="Microsoft YaHei" pitchFamily="34" charset="-120"/>
              </a:rPr>
              <a:t>70%  ·  需要关注</a:t>
            </a:r>
            <a:endParaRPr lang="en-US" sz="900" dirty="0"/>
          </a:p>
        </p:txBody>
      </p:sp>
      <p:sp>
        <p:nvSpPr>
          <p:cNvPr id="17" name="Text 15"/>
          <p:cNvSpPr/>
          <p:nvPr/>
        </p:nvSpPr>
        <p:spPr>
          <a:xfrm>
            <a:off x="411480" y="2276856"/>
            <a:ext cx="868680" cy="310896"/>
          </a:xfrm>
          <a:prstGeom prst="rect">
            <a:avLst/>
          </a:prstGeom>
          <a:noFill/>
          <a:ln/>
        </p:spPr>
        <p:txBody>
          <a:bodyPr wrap="square" lIns="0" tIns="0" rIns="0" bIns="0" rtlCol="0" anchor="ct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日本</a:t>
            </a:r>
            <a:endParaRPr lang="en-US" sz="950" dirty="0"/>
          </a:p>
        </p:txBody>
      </p:sp>
      <p:sp>
        <p:nvSpPr>
          <p:cNvPr id="18" name="Progress track">
            <a:extLst>
              <a:ext uri="{C183D7F6-B498-43B3-948B-1728B52AA6E4}">
                <adec:decorative xmlns:adec="http://schemas.microsoft.com/office/drawing/2017/decorative" val="1"/>
              </a:ext>
            </a:extLst>
          </p:cNvPr>
          <p:cNvSpPr/>
          <p:nvPr/>
        </p:nvSpPr>
        <p:spPr>
          <a:xfrm>
            <a:off x="1325880" y="2331720"/>
            <a:ext cx="2743200" cy="201168"/>
          </a:xfrm>
          <a:prstGeom prst="rect">
            <a:avLst/>
          </a:prstGeom>
          <a:solidFill>
            <a:srgbClr val="E8F0F7"/>
          </a:solidFill>
          <a:ln/>
        </p:spPr>
      </p:sp>
      <p:sp>
        <p:nvSpPr>
          <p:cNvPr id="19" name="Progress fill">
            <a:extLst>
              <a:ext uri="{C183D7F6-B498-43B3-948B-1728B52AA6E4}">
                <adec:decorative xmlns:adec="http://schemas.microsoft.com/office/drawing/2017/decorative" val="1"/>
              </a:ext>
            </a:extLst>
          </p:cNvPr>
          <p:cNvSpPr/>
          <p:nvPr/>
        </p:nvSpPr>
        <p:spPr>
          <a:xfrm>
            <a:off x="1325880" y="2331720"/>
            <a:ext cx="1645920" cy="201168"/>
          </a:xfrm>
          <a:prstGeom prst="rect">
            <a:avLst/>
          </a:prstGeom>
          <a:solidFill>
            <a:srgbClr val="C62828"/>
          </a:solidFill>
          <a:ln/>
        </p:spPr>
      </p:sp>
      <p:sp>
        <p:nvSpPr>
          <p:cNvPr id="20" name="Text 18"/>
          <p:cNvSpPr/>
          <p:nvPr/>
        </p:nvSpPr>
        <p:spPr>
          <a:xfrm>
            <a:off x="4160520" y="2276856"/>
            <a:ext cx="1645920" cy="310896"/>
          </a:xfrm>
          <a:prstGeom prst="rect">
            <a:avLst/>
          </a:prstGeom>
          <a:noFill/>
          <a:ln/>
        </p:spPr>
        <p:txBody>
          <a:bodyPr wrap="square" lIns="0" tIns="0" rIns="0" bIns="0" rtlCol="0" anchor="ctr"/>
          <a:lstStyle/>
          <a:p>
            <a:pPr marL="0" indent="0">
              <a:buNone/>
            </a:pPr>
            <a:r>
              <a:rPr lang="zh-Hans" sz="900" b="1">
                <a:solidFill>
                  <a:srgbClr val="C62828"/>
                </a:solidFill>
                <a:latin typeface="Microsoft YaHei" pitchFamily="34" charset="0"/>
                <a:ea typeface="Microsoft YaHei" pitchFamily="34" charset="-122"/>
                <a:cs typeface="Microsoft YaHei" pitchFamily="34" charset="-120"/>
              </a:rPr>
              <a:t>60%  ·  处于风险</a:t>
            </a:r>
            <a:endParaRPr lang="en-US" sz="900" dirty="0"/>
          </a:p>
        </p:txBody>
      </p:sp>
      <p:sp>
        <p:nvSpPr>
          <p:cNvPr id="21" name="Text 19"/>
          <p:cNvSpPr/>
          <p:nvPr/>
        </p:nvSpPr>
        <p:spPr>
          <a:xfrm>
            <a:off x="411480" y="2752344"/>
            <a:ext cx="868680" cy="310896"/>
          </a:xfrm>
          <a:prstGeom prst="rect">
            <a:avLst/>
          </a:prstGeom>
          <a:noFill/>
          <a:ln/>
        </p:spPr>
        <p:txBody>
          <a:bodyPr wrap="square" lIns="0" tIns="0" rIns="0" bIns="0" rtlCol="0" anchor="ctr"/>
          <a:lstStyle/>
          <a:p>
            <a:pPr marL="0" indent="0">
              <a:buNone/>
            </a:pPr>
            <a:r>
              <a:rPr lang="zh-Hans" sz="950">
                <a:solidFill>
                  <a:srgbClr val="1B2A41"/>
                </a:solidFill>
                <a:latin typeface="Microsoft YaHei" pitchFamily="34" charset="0"/>
                <a:ea typeface="Microsoft YaHei" pitchFamily="34" charset="-122"/>
                <a:cs typeface="Microsoft YaHei" pitchFamily="34" charset="-120"/>
              </a:rPr>
              <a:t>APAC 总体</a:t>
            </a:r>
            <a:endParaRPr lang="en-US" sz="950" dirty="0"/>
          </a:p>
        </p:txBody>
      </p:sp>
      <p:sp>
        <p:nvSpPr>
          <p:cNvPr id="22" name="Progress track">
            <a:extLst>
              <a:ext uri="{C183D7F6-B498-43B3-948B-1728B52AA6E4}">
                <adec:decorative xmlns:adec="http://schemas.microsoft.com/office/drawing/2017/decorative" val="1"/>
              </a:ext>
            </a:extLst>
          </p:cNvPr>
          <p:cNvSpPr/>
          <p:nvPr/>
        </p:nvSpPr>
        <p:spPr>
          <a:xfrm>
            <a:off x="1325880" y="2807208"/>
            <a:ext cx="2743200" cy="201168"/>
          </a:xfrm>
          <a:prstGeom prst="rect">
            <a:avLst/>
          </a:prstGeom>
          <a:solidFill>
            <a:srgbClr val="E8F0F7"/>
          </a:solidFill>
          <a:ln/>
        </p:spPr>
      </p:sp>
      <p:sp>
        <p:nvSpPr>
          <p:cNvPr id="23" name="Progress fill">
            <a:extLst>
              <a:ext uri="{C183D7F6-B498-43B3-948B-1728B52AA6E4}">
                <adec:decorative xmlns:adec="http://schemas.microsoft.com/office/drawing/2017/decorative" val="1"/>
              </a:ext>
            </a:extLst>
          </p:cNvPr>
          <p:cNvSpPr/>
          <p:nvPr/>
        </p:nvSpPr>
        <p:spPr>
          <a:xfrm>
            <a:off x="1325880" y="2807208"/>
            <a:ext cx="1975104" cy="201168"/>
          </a:xfrm>
          <a:prstGeom prst="rect">
            <a:avLst/>
          </a:prstGeom>
          <a:solidFill>
            <a:srgbClr val="C62828"/>
          </a:solidFill>
          <a:ln/>
        </p:spPr>
      </p:sp>
      <p:sp>
        <p:nvSpPr>
          <p:cNvPr id="24" name="Text 22"/>
          <p:cNvSpPr/>
          <p:nvPr/>
        </p:nvSpPr>
        <p:spPr>
          <a:xfrm>
            <a:off x="4160520" y="2752344"/>
            <a:ext cx="1645920" cy="310896"/>
          </a:xfrm>
          <a:prstGeom prst="rect">
            <a:avLst/>
          </a:prstGeom>
          <a:noFill/>
          <a:ln/>
        </p:spPr>
        <p:txBody>
          <a:bodyPr wrap="square" lIns="0" tIns="0" rIns="0" bIns="0" rtlCol="0" anchor="ctr"/>
          <a:lstStyle/>
          <a:p>
            <a:pPr marL="0" indent="0">
              <a:buNone/>
            </a:pPr>
            <a:r>
              <a:rPr lang="zh-Hans" sz="900" b="1">
                <a:solidFill>
                  <a:srgbClr val="C62828"/>
                </a:solidFill>
                <a:latin typeface="Microsoft YaHei" pitchFamily="34" charset="0"/>
                <a:ea typeface="Microsoft YaHei" pitchFamily="34" charset="-122"/>
                <a:cs typeface="Microsoft YaHei" pitchFamily="34" charset="-120"/>
              </a:rPr>
              <a:t>72%  ·  处于风险</a:t>
            </a:r>
            <a:endParaRPr lang="en-US" sz="900" dirty="0"/>
          </a:p>
        </p:txBody>
      </p:sp>
      <p:sp>
        <p:nvSpPr>
          <p:cNvPr id="25" name="Target marker line">
            <a:extLst>
              <a:ext uri="{C183D7F6-B498-43B3-948B-1728B52AA6E4}">
                <adec:decorative xmlns:adec="http://schemas.microsoft.com/office/drawing/2017/decorative" val="1"/>
              </a:ext>
            </a:extLst>
          </p:cNvPr>
          <p:cNvSpPr/>
          <p:nvPr/>
        </p:nvSpPr>
        <p:spPr>
          <a:xfrm>
            <a:off x="3794760" y="1325880"/>
            <a:ext cx="18288" cy="1847088"/>
          </a:xfrm>
          <a:prstGeom prst="rect">
            <a:avLst/>
          </a:prstGeom>
          <a:solidFill>
            <a:srgbClr val="1B2A41"/>
          </a:solidFill>
          <a:ln/>
        </p:spPr>
      </p:sp>
      <p:sp>
        <p:nvSpPr>
          <p:cNvPr id="26" name="Text 24"/>
          <p:cNvSpPr/>
          <p:nvPr/>
        </p:nvSpPr>
        <p:spPr>
          <a:xfrm>
            <a:off x="3566160" y="3200400"/>
            <a:ext cx="1097280" cy="219456"/>
          </a:xfrm>
          <a:prstGeom prst="rect">
            <a:avLst/>
          </a:prstGeom>
          <a:noFill/>
          <a:ln/>
        </p:spPr>
        <p:txBody>
          <a:bodyPr wrap="square" lIns="0" tIns="0" rIns="0" bIns="0" rtlCol="0" anchor="ctr"/>
          <a:lstStyle/>
          <a:p>
            <a:pPr marL="0" indent="0">
              <a:buNone/>
            </a:pPr>
            <a:r>
              <a:rPr lang="zh-Hans" sz="800">
                <a:solidFill>
                  <a:srgbClr val="1B2A41"/>
                </a:solidFill>
                <a:latin typeface="Microsoft YaHei" pitchFamily="34" charset="0"/>
                <a:ea typeface="Microsoft YaHei" pitchFamily="34" charset="-122"/>
                <a:cs typeface="Microsoft YaHei" pitchFamily="34" charset="-120"/>
              </a:rPr>
              <a:t>目标：90%</a:t>
            </a:r>
            <a:endParaRPr lang="en-US" sz="800" dirty="0"/>
          </a:p>
        </p:txBody>
      </p:sp>
      <p:sp>
        <p:nvSpPr>
          <p:cNvPr id="27" name="Content panel">
            <a:extLst>
              <a:ext uri="{C183D7F6-B498-43B3-948B-1728B52AA6E4}">
                <adec:decorative xmlns:adec="http://schemas.microsoft.com/office/drawing/2017/decorative" val="1"/>
              </a:ext>
            </a:extLst>
          </p:cNvPr>
          <p:cNvSpPr/>
          <p:nvPr/>
        </p:nvSpPr>
        <p:spPr>
          <a:xfrm>
            <a:off x="411480" y="3520440"/>
            <a:ext cx="5394960" cy="1188720"/>
          </a:xfrm>
          <a:prstGeom prst="rect">
            <a:avLst/>
          </a:prstGeom>
          <a:solidFill>
            <a:srgbClr val="F6F9FC"/>
          </a:solidFill>
          <a:ln w="6350">
            <a:solidFill>
              <a:srgbClr val="C9D8E6"/>
            </a:solidFill>
            <a:prstDash val="solid"/>
          </a:ln>
        </p:spPr>
      </p:sp>
      <p:sp>
        <p:nvSpPr>
          <p:cNvPr id="28" name="Panel accent">
            <a:extLst>
              <a:ext uri="{C183D7F6-B498-43B3-948B-1728B52AA6E4}">
                <adec:decorative xmlns:adec="http://schemas.microsoft.com/office/drawing/2017/decorative" val="1"/>
              </a:ext>
            </a:extLst>
          </p:cNvPr>
          <p:cNvSpPr/>
          <p:nvPr/>
        </p:nvSpPr>
        <p:spPr>
          <a:xfrm>
            <a:off x="411480" y="3520440"/>
            <a:ext cx="54864" cy="1188720"/>
          </a:xfrm>
          <a:prstGeom prst="rect">
            <a:avLst/>
          </a:prstGeom>
          <a:solidFill>
            <a:srgbClr val="1F5C99"/>
          </a:solidFill>
          <a:ln/>
        </p:spPr>
      </p:sp>
      <p:sp>
        <p:nvSpPr>
          <p:cNvPr id="29" name="Text 27"/>
          <p:cNvSpPr/>
          <p:nvPr/>
        </p:nvSpPr>
        <p:spPr>
          <a:xfrm>
            <a:off x="576072" y="3593592"/>
            <a:ext cx="512064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培训完成标准</a:t>
            </a:r>
            <a:endParaRPr lang="en-US" sz="1100" dirty="0"/>
          </a:p>
        </p:txBody>
      </p:sp>
      <p:sp>
        <p:nvSpPr>
          <p:cNvPr id="30" name="Text 28"/>
          <p:cNvSpPr/>
          <p:nvPr/>
        </p:nvSpPr>
        <p:spPr>
          <a:xfrm>
            <a:off x="621792" y="3931920"/>
            <a:ext cx="5029200" cy="548640"/>
          </a:xfrm>
          <a:prstGeom prst="rect">
            <a:avLst/>
          </a:prstGeom>
          <a:noFill/>
          <a:ln/>
        </p:spPr>
        <p:txBody>
          <a:bodyPr wrap="square" lIns="0" tIns="0" rIns="0" bIns="0" rtlCol="0" anchor="ctr"/>
          <a:lstStyle/>
          <a:p>
            <a:pPr marL="0" indent="0">
              <a:buNone/>
            </a:pPr>
            <a:r>
              <a:rPr lang="zh-Hans" sz="1000">
                <a:solidFill>
                  <a:srgbClr val="1B2A41"/>
                </a:solidFill>
                <a:latin typeface="Microsoft YaHei" pitchFamily="34" charset="0"/>
                <a:ea typeface="Microsoft YaHei" pitchFamily="34" charset="-122"/>
                <a:cs typeface="Microsoft YaHei" pitchFamily="34" charset="-120"/>
              </a:rPr>
              <a:t>产品基础课程  ·  销售场景课程  ·  产品演示课程  ·  知识测验</a:t>
            </a:r>
            <a:endParaRPr lang="en-US" sz="1000" dirty="0"/>
          </a:p>
        </p:txBody>
      </p:sp>
      <p:sp>
        <p:nvSpPr>
          <p:cNvPr id="31" name="Content panel">
            <a:extLst>
              <a:ext uri="{C183D7F6-B498-43B3-948B-1728B52AA6E4}">
                <adec:decorative xmlns:adec="http://schemas.microsoft.com/office/drawing/2017/decorative" val="1"/>
              </a:ext>
            </a:extLst>
          </p:cNvPr>
          <p:cNvSpPr/>
          <p:nvPr/>
        </p:nvSpPr>
        <p:spPr>
          <a:xfrm>
            <a:off x="5989320" y="969264"/>
            <a:ext cx="2743200" cy="1965960"/>
          </a:xfrm>
          <a:prstGeom prst="rect">
            <a:avLst/>
          </a:prstGeom>
          <a:solidFill>
            <a:srgbClr val="F6F9FC"/>
          </a:solidFill>
          <a:ln w="6350">
            <a:solidFill>
              <a:srgbClr val="C9D8E6"/>
            </a:solidFill>
            <a:prstDash val="solid"/>
          </a:ln>
        </p:spPr>
      </p:sp>
      <p:sp>
        <p:nvSpPr>
          <p:cNvPr id="32" name="Panel accent">
            <a:extLst>
              <a:ext uri="{C183D7F6-B498-43B3-948B-1728B52AA6E4}">
                <adec:decorative xmlns:adec="http://schemas.microsoft.com/office/drawing/2017/decorative" val="1"/>
              </a:ext>
            </a:extLst>
          </p:cNvPr>
          <p:cNvSpPr/>
          <p:nvPr/>
        </p:nvSpPr>
        <p:spPr>
          <a:xfrm>
            <a:off x="5989320" y="969264"/>
            <a:ext cx="54864" cy="1965960"/>
          </a:xfrm>
          <a:prstGeom prst="rect">
            <a:avLst/>
          </a:prstGeom>
          <a:solidFill>
            <a:srgbClr val="E07A19"/>
          </a:solidFill>
          <a:ln/>
        </p:spPr>
      </p:sp>
      <p:sp>
        <p:nvSpPr>
          <p:cNvPr id="33" name="Text 31"/>
          <p:cNvSpPr/>
          <p:nvPr/>
        </p:nvSpPr>
        <p:spPr>
          <a:xfrm>
            <a:off x="6153912" y="1042416"/>
            <a:ext cx="246888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培训内容</a:t>
            </a:r>
            <a:endParaRPr lang="en-US" sz="1100" dirty="0"/>
          </a:p>
        </p:txBody>
      </p:sp>
      <p:sp>
        <p:nvSpPr>
          <p:cNvPr id="34" name="Text 32"/>
          <p:cNvSpPr/>
          <p:nvPr/>
        </p:nvSpPr>
        <p:spPr>
          <a:xfrm>
            <a:off x="6172200" y="1316736"/>
            <a:ext cx="2423160" cy="1554480"/>
          </a:xfrm>
          <a:prstGeom prst="rect">
            <a:avLst/>
          </a:prstGeom>
          <a:noFill/>
          <a:ln/>
        </p:spPr>
        <p:txBody>
          <a:bodyPr wrap="square" lIns="0" tIns="0" rIns="0" bIns="0" rtlCol="0" anchor="ctr"/>
          <a:lstStyle/>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X500 产品定位与客户场景</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工业连接协议基础</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Azure 集成方案概览</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标准产品演示</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竞争定位与异议处理</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部署要求与支持升级路径</a:t>
            </a:r>
            <a:endParaRPr lang="en-US" sz="850" dirty="0"/>
          </a:p>
        </p:txBody>
      </p:sp>
      <p:sp>
        <p:nvSpPr>
          <p:cNvPr id="35" name="Content panel">
            <a:extLst>
              <a:ext uri="{C183D7F6-B498-43B3-948B-1728B52AA6E4}">
                <adec:decorative xmlns:adec="http://schemas.microsoft.com/office/drawing/2017/decorative" val="1"/>
              </a:ext>
            </a:extLst>
          </p:cNvPr>
          <p:cNvSpPr/>
          <p:nvPr/>
        </p:nvSpPr>
        <p:spPr>
          <a:xfrm>
            <a:off x="5989320" y="3063240"/>
            <a:ext cx="2743200" cy="1645920"/>
          </a:xfrm>
          <a:prstGeom prst="rect">
            <a:avLst/>
          </a:prstGeom>
          <a:solidFill>
            <a:srgbClr val="F6F9FC"/>
          </a:solidFill>
          <a:ln w="6350">
            <a:solidFill>
              <a:srgbClr val="C9D8E6"/>
            </a:solidFill>
            <a:prstDash val="solid"/>
          </a:ln>
        </p:spPr>
      </p:sp>
      <p:sp>
        <p:nvSpPr>
          <p:cNvPr id="36" name="Panel accent">
            <a:extLst>
              <a:ext uri="{C183D7F6-B498-43B3-948B-1728B52AA6E4}">
                <adec:decorative xmlns:adec="http://schemas.microsoft.com/office/drawing/2017/decorative" val="1"/>
              </a:ext>
            </a:extLst>
          </p:cNvPr>
          <p:cNvSpPr/>
          <p:nvPr/>
        </p:nvSpPr>
        <p:spPr>
          <a:xfrm>
            <a:off x="5989320" y="3063240"/>
            <a:ext cx="54864" cy="1645920"/>
          </a:xfrm>
          <a:prstGeom prst="rect">
            <a:avLst/>
          </a:prstGeom>
          <a:solidFill>
            <a:srgbClr val="1F5C99"/>
          </a:solidFill>
          <a:ln/>
        </p:spPr>
      </p:sp>
      <p:sp>
        <p:nvSpPr>
          <p:cNvPr id="37" name="Text 35"/>
          <p:cNvSpPr/>
          <p:nvPr/>
        </p:nvSpPr>
        <p:spPr>
          <a:xfrm>
            <a:off x="6153912" y="3136392"/>
            <a:ext cx="246888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培训提升计划</a:t>
            </a:r>
            <a:endParaRPr lang="en-US" sz="1100" dirty="0"/>
          </a:p>
        </p:txBody>
      </p:sp>
      <p:sp>
        <p:nvSpPr>
          <p:cNvPr id="38" name="Text 36"/>
          <p:cNvSpPr/>
          <p:nvPr/>
        </p:nvSpPr>
        <p:spPr>
          <a:xfrm>
            <a:off x="6172200" y="3410712"/>
            <a:ext cx="2423160" cy="1234440"/>
          </a:xfrm>
          <a:prstGeom prst="rect">
            <a:avLst/>
          </a:prstGeom>
          <a:noFill/>
          <a:ln/>
        </p:spPr>
        <p:txBody>
          <a:bodyPr wrap="square" lIns="0" tIns="0" rIns="0" bIns="0" rtlCol="0" anchor="ctr"/>
          <a:lstStyle/>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增加两场 APAC 在线培训</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为日本合作伙伴安排本地语言专场</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提供培训录像和快速参考资料</a:t>
            </a:r>
            <a:endParaRPr lang="en-US" sz="850" dirty="0"/>
          </a:p>
          <a:p>
            <a:pPr marL="342900" indent="-342900">
              <a:spcAft>
                <a:spcPts val="200"/>
              </a:spcAft>
              <a:buSzPct val="100000"/>
              <a:buChar char="•"/>
            </a:pPr>
            <a:r>
              <a:rPr lang="zh-Hans" sz="850">
                <a:solidFill>
                  <a:srgbClr val="1B2A41"/>
                </a:solidFill>
                <a:latin typeface="Microsoft YaHei" pitchFamily="34" charset="0"/>
                <a:ea typeface="Microsoft YaHei" pitchFamily="34" charset="-122"/>
                <a:cs typeface="Microsoft YaHei" pitchFamily="34" charset="-120"/>
              </a:rPr>
              <a:t>增加产品知识测验并追踪未完成人员</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上市营销活动计划</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启动活动与客户互动</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sp>
        <p:nvSpPr>
          <p:cNvPr id="8" name="Content panel">
            <a:extLst>
              <a:ext uri="{C183D7F6-B498-43B3-948B-1728B52AA6E4}">
                <adec:decorative xmlns:adec="http://schemas.microsoft.com/office/drawing/2017/decorative" val="1"/>
              </a:ext>
            </a:extLst>
          </p:cNvPr>
          <p:cNvSpPr/>
          <p:nvPr/>
        </p:nvSpPr>
        <p:spPr>
          <a:xfrm>
            <a:off x="411480" y="969264"/>
            <a:ext cx="1783080" cy="2331720"/>
          </a:xfrm>
          <a:prstGeom prst="rect">
            <a:avLst/>
          </a:prstGeom>
          <a:solidFill>
            <a:srgbClr val="F6F9FC"/>
          </a:solidFill>
          <a:ln w="6350">
            <a:solidFill>
              <a:srgbClr val="C9D8E6"/>
            </a:solidFill>
            <a:prstDash val="solid"/>
          </a:ln>
        </p:spPr>
      </p:sp>
      <p:sp>
        <p:nvSpPr>
          <p:cNvPr id="9" name="Panel accent">
            <a:extLst>
              <a:ext uri="{C183D7F6-B498-43B3-948B-1728B52AA6E4}">
                <adec:decorative xmlns:adec="http://schemas.microsoft.com/office/drawing/2017/decorative" val="1"/>
              </a:ext>
            </a:extLst>
          </p:cNvPr>
          <p:cNvSpPr/>
          <p:nvPr/>
        </p:nvSpPr>
        <p:spPr>
          <a:xfrm>
            <a:off x="411480" y="969264"/>
            <a:ext cx="54864" cy="2331720"/>
          </a:xfrm>
          <a:prstGeom prst="rect">
            <a:avLst/>
          </a:prstGeom>
          <a:solidFill>
            <a:srgbClr val="1F5C99"/>
          </a:solidFill>
          <a:ln/>
        </p:spPr>
      </p:sp>
      <p:sp>
        <p:nvSpPr>
          <p:cNvPr id="10" name="Text 8"/>
          <p:cNvSpPr/>
          <p:nvPr/>
        </p:nvSpPr>
        <p:spPr>
          <a:xfrm>
            <a:off x="576072" y="1042416"/>
            <a:ext cx="15087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上市前 09-10月</a:t>
            </a:r>
            <a:endParaRPr lang="en-US" sz="1100" dirty="0"/>
          </a:p>
        </p:txBody>
      </p:sp>
      <p:sp>
        <p:nvSpPr>
          <p:cNvPr id="11" name="Text 9"/>
          <p:cNvSpPr/>
          <p:nvPr/>
        </p:nvSpPr>
        <p:spPr>
          <a:xfrm>
            <a:off x="594360" y="1481328"/>
            <a:ext cx="1481328" cy="1737360"/>
          </a:xfrm>
          <a:prstGeom prst="rect">
            <a:avLst/>
          </a:prstGeom>
          <a:noFill/>
          <a:ln/>
        </p:spPr>
        <p:txBody>
          <a:bodyPr wrap="square" lIns="0" tIns="0" rIns="0" bIns="0" rtlCol="0" anchor="ctr"/>
          <a:lstStyle/>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完成产品价值主张</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发布内部销售工具包</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开展合作伙伴培训</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准备行业分析师简报</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确认重点客户名单</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完成网站与媒体材料</a:t>
            </a:r>
            <a:endParaRPr lang="en-US" sz="800" dirty="0"/>
          </a:p>
        </p:txBody>
      </p:sp>
      <p:sp>
        <p:nvSpPr>
          <p:cNvPr id="12" name="Content panel">
            <a:extLst>
              <a:ext uri="{C183D7F6-B498-43B3-948B-1728B52AA6E4}">
                <adec:decorative xmlns:adec="http://schemas.microsoft.com/office/drawing/2017/decorative" val="1"/>
              </a:ext>
            </a:extLst>
          </p:cNvPr>
          <p:cNvSpPr/>
          <p:nvPr/>
        </p:nvSpPr>
        <p:spPr>
          <a:xfrm>
            <a:off x="2331720" y="969264"/>
            <a:ext cx="1783080" cy="2331720"/>
          </a:xfrm>
          <a:prstGeom prst="rect">
            <a:avLst/>
          </a:prstGeom>
          <a:solidFill>
            <a:srgbClr val="F6F9FC"/>
          </a:solidFill>
          <a:ln w="6350">
            <a:solidFill>
              <a:srgbClr val="C9D8E6"/>
            </a:solidFill>
            <a:prstDash val="solid"/>
          </a:ln>
        </p:spPr>
      </p:sp>
      <p:sp>
        <p:nvSpPr>
          <p:cNvPr id="13" name="Panel accent">
            <a:extLst>
              <a:ext uri="{C183D7F6-B498-43B3-948B-1728B52AA6E4}">
                <adec:decorative xmlns:adec="http://schemas.microsoft.com/office/drawing/2017/decorative" val="1"/>
              </a:ext>
            </a:extLst>
          </p:cNvPr>
          <p:cNvSpPr/>
          <p:nvPr/>
        </p:nvSpPr>
        <p:spPr>
          <a:xfrm>
            <a:off x="2331720" y="969264"/>
            <a:ext cx="54864" cy="2331720"/>
          </a:xfrm>
          <a:prstGeom prst="rect">
            <a:avLst/>
          </a:prstGeom>
          <a:solidFill>
            <a:srgbClr val="E07A19"/>
          </a:solidFill>
          <a:ln/>
        </p:spPr>
      </p:sp>
      <p:sp>
        <p:nvSpPr>
          <p:cNvPr id="14" name="Text 12"/>
          <p:cNvSpPr/>
          <p:nvPr/>
        </p:nvSpPr>
        <p:spPr>
          <a:xfrm>
            <a:off x="2496312" y="1042416"/>
            <a:ext cx="15087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上市 11-15</a:t>
            </a:r>
            <a:endParaRPr lang="en-US" sz="1100" dirty="0"/>
          </a:p>
        </p:txBody>
      </p:sp>
      <p:sp>
        <p:nvSpPr>
          <p:cNvPr id="15" name="Text 13"/>
          <p:cNvSpPr/>
          <p:nvPr/>
        </p:nvSpPr>
        <p:spPr>
          <a:xfrm>
            <a:off x="2514600" y="1481328"/>
            <a:ext cx="1481328" cy="1737360"/>
          </a:xfrm>
          <a:prstGeom prst="rect">
            <a:avLst/>
          </a:prstGeom>
          <a:noFill/>
          <a:ln/>
        </p:spPr>
        <p:txBody>
          <a:bodyPr wrap="square" lIns="0" tIns="0" rIns="0" bIns="0" rtlCol="0" anchor="ctr"/>
          <a:lstStyle/>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发布产品网站</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举办 APAC 线上发布活动</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启动区域客户研讨会</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发布产品介绍视频</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开展合作伙伴联合营销</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推动重点客户产品演示</a:t>
            </a:r>
            <a:endParaRPr lang="en-US" sz="800" dirty="0"/>
          </a:p>
        </p:txBody>
      </p:sp>
      <p:sp>
        <p:nvSpPr>
          <p:cNvPr id="16" name="Content panel">
            <a:extLst>
              <a:ext uri="{C183D7F6-B498-43B3-948B-1728B52AA6E4}">
                <adec:decorative xmlns:adec="http://schemas.microsoft.com/office/drawing/2017/decorative" val="1"/>
              </a:ext>
            </a:extLst>
          </p:cNvPr>
          <p:cNvSpPr/>
          <p:nvPr/>
        </p:nvSpPr>
        <p:spPr>
          <a:xfrm>
            <a:off x="4251960" y="969264"/>
            <a:ext cx="1783080" cy="2331720"/>
          </a:xfrm>
          <a:prstGeom prst="rect">
            <a:avLst/>
          </a:prstGeom>
          <a:solidFill>
            <a:srgbClr val="F6F9FC"/>
          </a:solidFill>
          <a:ln w="6350">
            <a:solidFill>
              <a:srgbClr val="C9D8E6"/>
            </a:solidFill>
            <a:prstDash val="solid"/>
          </a:ln>
        </p:spPr>
      </p:sp>
      <p:sp>
        <p:nvSpPr>
          <p:cNvPr id="17" name="Panel accent">
            <a:extLst>
              <a:ext uri="{C183D7F6-B498-43B3-948B-1728B52AA6E4}">
                <adec:decorative xmlns:adec="http://schemas.microsoft.com/office/drawing/2017/decorative" val="1"/>
              </a:ext>
            </a:extLst>
          </p:cNvPr>
          <p:cNvSpPr/>
          <p:nvPr/>
        </p:nvSpPr>
        <p:spPr>
          <a:xfrm>
            <a:off x="4251960" y="969264"/>
            <a:ext cx="54864" cy="2331720"/>
          </a:xfrm>
          <a:prstGeom prst="rect">
            <a:avLst/>
          </a:prstGeom>
          <a:solidFill>
            <a:srgbClr val="2E7D32"/>
          </a:solidFill>
          <a:ln/>
        </p:spPr>
      </p:sp>
      <p:sp>
        <p:nvSpPr>
          <p:cNvPr id="18" name="Text 16"/>
          <p:cNvSpPr/>
          <p:nvPr/>
        </p:nvSpPr>
        <p:spPr>
          <a:xfrm>
            <a:off x="4416552" y="1042416"/>
            <a:ext cx="150876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上市后</a:t>
            </a:r>
            <a:endParaRPr lang="en-US" sz="1100" dirty="0"/>
          </a:p>
        </p:txBody>
      </p:sp>
      <p:sp>
        <p:nvSpPr>
          <p:cNvPr id="19" name="Text 17"/>
          <p:cNvSpPr/>
          <p:nvPr/>
        </p:nvSpPr>
        <p:spPr>
          <a:xfrm>
            <a:off x="4434840" y="1481328"/>
            <a:ext cx="1481328" cy="1737360"/>
          </a:xfrm>
          <a:prstGeom prst="rect">
            <a:avLst/>
          </a:prstGeom>
          <a:noFill/>
          <a:ln/>
        </p:spPr>
        <p:txBody>
          <a:bodyPr wrap="square" lIns="0" tIns="0" rIns="0" bIns="0" rtlCol="0" anchor="ctr"/>
          <a:lstStyle/>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收集销售和合作伙伴反馈</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跟踪客户试用与商机</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更新销售 FAQ</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整理早期客户案例</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复盘区域活动效果</a:t>
            </a:r>
            <a:endParaRPr lang="en-US" sz="800" dirty="0"/>
          </a:p>
        </p:txBody>
      </p:sp>
      <p:sp>
        <p:nvSpPr>
          <p:cNvPr id="20" name="Text 18"/>
          <p:cNvSpPr/>
          <p:nvPr/>
        </p:nvSpPr>
        <p:spPr>
          <a:xfrm>
            <a:off x="6263640" y="969264"/>
            <a:ext cx="246888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建议营销渠道</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287699116"/>
              </p:ext>
            </p:extLst>
          </p:nvPr>
        </p:nvGraphicFramePr>
        <p:xfrm>
          <a:off x="6263640" y="1280160"/>
          <a:ext cx="2468880" cy="1984248"/>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83464">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渠道</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主要用途</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产品官网</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产品信息与客户咨询</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客户研讨会</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场景教育与商机发现</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合作伙伴活动</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扩大区域覆盖</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销售演示</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推动重点客户评估</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行业分析师沟通</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建立市场认知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客户案例</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提升场景可信度</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2" name="Content panel">
            <a:extLst>
              <a:ext uri="{C183D7F6-B498-43B3-948B-1728B52AA6E4}">
                <adec:decorative xmlns:adec="http://schemas.microsoft.com/office/drawing/2017/decorative" val="1"/>
              </a:ext>
            </a:extLst>
          </p:cNvPr>
          <p:cNvSpPr/>
          <p:nvPr/>
        </p:nvSpPr>
        <p:spPr>
          <a:xfrm>
            <a:off x="411480" y="3429000"/>
            <a:ext cx="5623560" cy="1280160"/>
          </a:xfrm>
          <a:prstGeom prst="rect">
            <a:avLst/>
          </a:prstGeom>
          <a:solidFill>
            <a:srgbClr val="F6F9FC"/>
          </a:solidFill>
          <a:ln w="6350">
            <a:solidFill>
              <a:srgbClr val="C9D8E6"/>
            </a:solidFill>
            <a:prstDash val="solid"/>
          </a:ln>
        </p:spPr>
      </p:sp>
      <p:sp>
        <p:nvSpPr>
          <p:cNvPr id="23" name="Panel accent">
            <a:extLst>
              <a:ext uri="{C183D7F6-B498-43B3-948B-1728B52AA6E4}">
                <adec:decorative xmlns:adec="http://schemas.microsoft.com/office/drawing/2017/decorative" val="1"/>
              </a:ext>
            </a:extLst>
          </p:cNvPr>
          <p:cNvSpPr/>
          <p:nvPr/>
        </p:nvSpPr>
        <p:spPr>
          <a:xfrm>
            <a:off x="411480" y="3429000"/>
            <a:ext cx="54864" cy="1280160"/>
          </a:xfrm>
          <a:prstGeom prst="rect">
            <a:avLst/>
          </a:prstGeom>
          <a:solidFill>
            <a:srgbClr val="C62828"/>
          </a:solidFill>
          <a:ln/>
        </p:spPr>
      </p:sp>
      <p:sp>
        <p:nvSpPr>
          <p:cNvPr id="24" name="Text 21"/>
          <p:cNvSpPr/>
          <p:nvPr/>
        </p:nvSpPr>
        <p:spPr>
          <a:xfrm>
            <a:off x="576072" y="3502152"/>
            <a:ext cx="534924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当前关注事项</a:t>
            </a:r>
            <a:endParaRPr lang="en-US" sz="1100" dirty="0"/>
          </a:p>
        </p:txBody>
      </p:sp>
      <p:sp>
        <p:nvSpPr>
          <p:cNvPr id="25" name="Text 22"/>
          <p:cNvSpPr/>
          <p:nvPr/>
        </p:nvSpPr>
        <p:spPr>
          <a:xfrm>
            <a:off x="621792" y="3785616"/>
            <a:ext cx="5257800" cy="868680"/>
          </a:xfrm>
          <a:prstGeom prst="rect">
            <a:avLst/>
          </a:prstGeom>
          <a:noFill/>
          <a:ln/>
        </p:spPr>
        <p:txBody>
          <a:bodyPr wrap="square" lIns="0" tIns="0" rIns="0" bIns="0" rtlCol="0" anchor="ctr"/>
          <a:lstStyle/>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Analyst Briefing 时间仍需最终确认</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日本对外宣传日期应等待认证信息确认</a:t>
            </a:r>
            <a:endParaRPr lang="en-US" sz="900" dirty="0"/>
          </a:p>
          <a:p>
            <a:pPr marL="342900" indent="-342900">
              <a:spcAft>
                <a:spcPts val="2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对外材料不得承诺尚未完成验证的功能; 客户名称和 Logo 使用需要授权</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1F5C99"/>
          </a:solidFill>
          <a:ln/>
        </p:spPr>
      </p:sp>
      <p:sp>
        <p:nvSpPr>
          <p:cNvPr id="3" name="Text 1"/>
          <p:cNvSpPr/>
          <p:nvPr/>
        </p:nvSpPr>
        <p:spPr>
          <a:xfrm>
            <a:off x="411480" y="201168"/>
            <a:ext cx="8321040" cy="384048"/>
          </a:xfrm>
          <a:prstGeom prst="rect">
            <a:avLst/>
          </a:prstGeom>
          <a:noFill/>
          <a:ln/>
        </p:spPr>
        <p:txBody>
          <a:bodyPr wrap="square" lIns="0" tIns="0" rIns="0" bIns="0" rtlCol="0" anchor="ctr"/>
          <a:lstStyle/>
          <a:p>
            <a:pPr marL="0" indent="0">
              <a:buNone/>
            </a:pPr>
            <a:r>
              <a:rPr lang="zh-Hans" sz="2100" b="1">
                <a:solidFill>
                  <a:srgbClr val="1B2A41"/>
                </a:solidFill>
                <a:latin typeface="Microsoft YaHei" pitchFamily="34" charset="0"/>
                <a:ea typeface="Microsoft YaHei" pitchFamily="34" charset="-122"/>
                <a:cs typeface="Microsoft YaHei" pitchFamily="34" charset="-120"/>
              </a:rPr>
              <a:t>上市成功指标与下一步</a:t>
            </a:r>
            <a:endParaRPr lang="en-US" sz="2100" dirty="0"/>
          </a:p>
        </p:txBody>
      </p:sp>
      <p:sp>
        <p:nvSpPr>
          <p:cNvPr id="4" name="Text 2"/>
          <p:cNvSpPr/>
          <p:nvPr/>
        </p:nvSpPr>
        <p:spPr>
          <a:xfrm>
            <a:off x="411480" y="576072"/>
            <a:ext cx="8321040" cy="237744"/>
          </a:xfrm>
          <a:prstGeom prst="rect">
            <a:avLst/>
          </a:prstGeom>
          <a:noFill/>
          <a:ln/>
        </p:spPr>
        <p:txBody>
          <a:bodyPr wrap="square" lIns="0" tIns="0" rIns="0" bIns="0" rtlCol="0" anchor="ctr"/>
          <a:lstStyle/>
          <a:p>
            <a:pPr marL="0" indent="0">
              <a:buNone/>
            </a:pPr>
            <a:r>
              <a:rPr lang="zh-Hans" sz="1100">
                <a:solidFill>
                  <a:srgbClr val="1F5C99"/>
                </a:solidFill>
                <a:latin typeface="Microsoft YaHei" pitchFamily="34" charset="0"/>
                <a:ea typeface="Microsoft YaHei" pitchFamily="34" charset="-122"/>
                <a:cs typeface="Microsoft YaHei" pitchFamily="34" charset="-120"/>
              </a:rPr>
              <a:t>启动成功指标及下一步</a:t>
            </a:r>
            <a:endParaRPr lang="en-US" sz="1100" dirty="0"/>
          </a:p>
        </p:txBody>
      </p:sp>
      <p:sp>
        <p:nvSpPr>
          <p:cNvPr id="5" name="Header rule">
            <a:extLst>
              <a:ext uri="{C183D7F6-B498-43B3-948B-1728B52AA6E4}">
                <adec:decorative xmlns:adec="http://schemas.microsoft.com/office/drawing/2017/decorative" val="1"/>
              </a:ext>
            </a:extLst>
          </p:cNvPr>
          <p:cNvSpPr/>
          <p:nvPr/>
        </p:nvSpPr>
        <p:spPr>
          <a:xfrm>
            <a:off x="411480" y="859536"/>
            <a:ext cx="8321040" cy="18288"/>
          </a:xfrm>
          <a:prstGeom prst="rect">
            <a:avLst/>
          </a:prstGeom>
          <a:solidFill>
            <a:srgbClr val="C9D8E6"/>
          </a:solidFill>
          <a:ln/>
        </p:spPr>
      </p:sp>
      <p:sp>
        <p:nvSpPr>
          <p:cNvPr id="6" name="Footer band">
            <a:extLst>
              <a:ext uri="{C183D7F6-B498-43B3-948B-1728B52AA6E4}">
                <adec:decorative xmlns:adec="http://schemas.microsoft.com/office/drawing/2017/decorative" val="1"/>
              </a:ext>
            </a:extLst>
          </p:cNvPr>
          <p:cNvSpPr/>
          <p:nvPr/>
        </p:nvSpPr>
        <p:spPr>
          <a:xfrm>
            <a:off x="0" y="4901184"/>
            <a:ext cx="9144000" cy="242316"/>
          </a:xfrm>
          <a:prstGeom prst="rect">
            <a:avLst/>
          </a:prstGeom>
          <a:solidFill>
            <a:srgbClr val="E8F0F7"/>
          </a:solidFill>
          <a:ln/>
        </p:spPr>
      </p:sp>
      <p:sp>
        <p:nvSpPr>
          <p:cNvPr id="7" name="Text 5"/>
          <p:cNvSpPr/>
          <p:nvPr/>
        </p:nvSpPr>
        <p:spPr>
          <a:xfrm>
            <a:off x="411480" y="4919472"/>
            <a:ext cx="8321040" cy="201168"/>
          </a:xfrm>
          <a:prstGeom prst="rect">
            <a:avLst/>
          </a:prstGeom>
          <a:noFill/>
          <a:ln/>
        </p:spPr>
        <p:txBody>
          <a:bodyPr wrap="square" lIns="0" tIns="0" rIns="0" bIns="0" rtlCol="0" anchor="ctr"/>
          <a:lstStyle/>
          <a:p>
            <a:pPr marL="0" indent="0">
              <a:buNone/>
            </a:pPr>
            <a:r>
              <a:rPr lang="zh-Hans" sz="800">
                <a:solidFill>
                  <a:srgbClr val="5A6B7B"/>
                </a:solidFill>
                <a:latin typeface="Microsoft YaHei" pitchFamily="34" charset="0"/>
                <a:ea typeface="Microsoft YaHei" pitchFamily="34" charset="-122"/>
                <a:cs typeface="Microsoft YaHei" pitchFamily="34" charset="-120"/>
              </a:rPr>
              <a:t>Contoso Edge Gateway X500 |v0.9 |资料更新 2026-09-25  |仅限内部培训使用</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03666445"/>
              </p:ext>
            </p:extLst>
          </p:nvPr>
        </p:nvGraphicFramePr>
        <p:xfrm>
          <a:off x="411480" y="969264"/>
          <a:ext cx="4160520" cy="2139696"/>
        </p:xfrm>
        <a:graphic>
          <a:graphicData uri="http://schemas.openxmlformats.org/drawingml/2006/table">
            <a:tbl>
              <a:tblPr/>
              <a:tblGrid>
                <a:gridCol w="1005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37744">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领域</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指标</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tc>
                  <a:txBody>
                    <a:bodyPr/>
                    <a:lstStyle/>
                    <a:p>
                      <a:pPr marL="0" indent="0">
                        <a:buNone/>
                      </a:pPr>
                      <a:r>
                        <a:rPr lang="zh-Hans" sz="950" b="1">
                          <a:solidFill>
                            <a:srgbClr val="FFFFFF"/>
                          </a:solidFill>
                          <a:latin typeface="Microsoft YaHei" pitchFamily="34" charset="0"/>
                          <a:ea typeface="Microsoft YaHei" pitchFamily="34" charset="-122"/>
                          <a:cs typeface="Microsoft YaHei" pitchFamily="34" charset="-120"/>
                        </a:rPr>
                        <a:t>目标</a:t>
                      </a:r>
                      <a:endParaRPr lang="en-US" sz="9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solidFill>
                      <a:srgbClr val="1F5C99"/>
                    </a:solidFill>
                  </a:tcPr>
                </a:tc>
                <a:extLst>
                  <a:ext uri="{0D108BD9-81ED-4DB2-BD59-A6C34878D82A}">
                    <a16:rowId xmlns:a16="http://schemas.microsoft.com/office/drawing/2014/main" val="10000"/>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商业目标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第一财年销售数量</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5,000 台</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商业目标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第一财年收入</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800万美元</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客户拓展</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新客户数量</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150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市场</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APAC 收入占比</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60%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培训</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渠道培训完成率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90%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销售准备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核心销售资料完成率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100%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服务准备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发布前知识库完成率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100%</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产品质量</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可靠性测试通过率</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tc>
                  <a:txBody>
                    <a:bodyPr/>
                    <a:lstStyle/>
                    <a:p>
                      <a:pPr marL="0" indent="0">
                        <a:buNone/>
                      </a:pPr>
                      <a:r>
                        <a:rPr lang="zh-Hans" sz="850">
                          <a:solidFill>
                            <a:srgbClr val="1B2A41"/>
                          </a:solidFill>
                          <a:latin typeface="Microsoft YaHei" pitchFamily="34" charset="0"/>
                          <a:ea typeface="Microsoft YaHei" pitchFamily="34" charset="-122"/>
                          <a:cs typeface="Microsoft YaHei" pitchFamily="34" charset="-120"/>
                        </a:rPr>
                        <a:t>98%</a:t>
                      </a:r>
                      <a:endParaRPr lang="en-US" sz="850">
                        <a:latin typeface="Microsoft YaHei" charset="0"/>
                        <a:ea typeface="Microsoft YaHei" charset="0"/>
                        <a:cs typeface="Microsoft YaHei" charset="0"/>
                      </a:endParaRPr>
                    </a:p>
                  </a:txBody>
                  <a:tcPr anchor="ctr">
                    <a:lnL w="6350" cap="flat" cmpd="sng" algn="ctr">
                      <a:solidFill>
                        <a:srgbClr val="C9D8E6"/>
                      </a:solidFill>
                      <a:prstDash val="solid"/>
                      <a:round/>
                      <a:headEnd type="none" w="med" len="med"/>
                      <a:tailEnd type="none" w="med" len="med"/>
                    </a:lnL>
                    <a:lnR w="6350" cap="flat" cmpd="sng" algn="ctr">
                      <a:solidFill>
                        <a:srgbClr val="C9D8E6"/>
                      </a:solidFill>
                      <a:prstDash val="solid"/>
                      <a:round/>
                      <a:headEnd type="none" w="med" len="med"/>
                      <a:tailEnd type="none" w="med" len="med"/>
                    </a:lnR>
                    <a:lnT w="6350" cap="flat" cmpd="sng" algn="ctr">
                      <a:solidFill>
                        <a:srgbClr val="C9D8E6"/>
                      </a:solidFill>
                      <a:prstDash val="solid"/>
                      <a:round/>
                      <a:headEnd type="none" w="med" len="med"/>
                      <a:tailEnd type="none" w="med" len="med"/>
                    </a:lnT>
                    <a:lnB w="6350" cap="flat" cmpd="sng" algn="ctr">
                      <a:solidFill>
                        <a:srgbClr val="C9D8E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Content panel">
            <a:extLst>
              <a:ext uri="{C183D7F6-B498-43B3-948B-1728B52AA6E4}">
                <adec:decorative xmlns:adec="http://schemas.microsoft.com/office/drawing/2017/decorative" val="1"/>
              </a:ext>
            </a:extLst>
          </p:cNvPr>
          <p:cNvSpPr/>
          <p:nvPr/>
        </p:nvSpPr>
        <p:spPr>
          <a:xfrm>
            <a:off x="4754880" y="969264"/>
            <a:ext cx="2148840" cy="2103120"/>
          </a:xfrm>
          <a:prstGeom prst="rect">
            <a:avLst/>
          </a:prstGeom>
          <a:solidFill>
            <a:srgbClr val="F6F9FC"/>
          </a:solidFill>
          <a:ln w="6350">
            <a:solidFill>
              <a:srgbClr val="C9D8E6"/>
            </a:solidFill>
            <a:prstDash val="solid"/>
          </a:ln>
        </p:spPr>
      </p:sp>
      <p:sp>
        <p:nvSpPr>
          <p:cNvPr id="10" name="Panel accent">
            <a:extLst>
              <a:ext uri="{C183D7F6-B498-43B3-948B-1728B52AA6E4}">
                <adec:decorative xmlns:adec="http://schemas.microsoft.com/office/drawing/2017/decorative" val="1"/>
              </a:ext>
            </a:extLst>
          </p:cNvPr>
          <p:cNvSpPr/>
          <p:nvPr/>
        </p:nvSpPr>
        <p:spPr>
          <a:xfrm>
            <a:off x="4754880" y="969264"/>
            <a:ext cx="54864" cy="2103120"/>
          </a:xfrm>
          <a:prstGeom prst="rect">
            <a:avLst/>
          </a:prstGeom>
          <a:solidFill>
            <a:srgbClr val="1F5C99"/>
          </a:solidFill>
          <a:ln/>
        </p:spPr>
      </p:sp>
      <p:sp>
        <p:nvSpPr>
          <p:cNvPr id="11" name="Text 8"/>
          <p:cNvSpPr/>
          <p:nvPr/>
        </p:nvSpPr>
        <p:spPr>
          <a:xfrm>
            <a:off x="4919472" y="1042416"/>
            <a:ext cx="187452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上市前关键动作</a:t>
            </a:r>
            <a:endParaRPr lang="en-US" sz="1100" dirty="0"/>
          </a:p>
        </p:txBody>
      </p:sp>
      <p:sp>
        <p:nvSpPr>
          <p:cNvPr id="12" name="Text 9"/>
          <p:cNvSpPr/>
          <p:nvPr/>
        </p:nvSpPr>
        <p:spPr>
          <a:xfrm>
            <a:off x="4937760" y="1316736"/>
            <a:ext cx="1828800" cy="1645920"/>
          </a:xfrm>
          <a:prstGeom prst="rect">
            <a:avLst/>
          </a:prstGeom>
          <a:noFill/>
          <a:ln/>
        </p:spPr>
        <p:txBody>
          <a:bodyPr wrap="square" lIns="0" tIns="0" rIns="0" bIns="0" rtlCol="0" anchor="ctr"/>
          <a:lstStyle/>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完成 定价批准</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渠道培训率提升至目标</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完成 Demo Guide 与 常见问题解答</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确认日本认证与上市日期</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确认首批库存与供货日期</a:t>
            </a:r>
            <a:endParaRPr lang="en-US" sz="800" dirty="0"/>
          </a:p>
          <a:p>
            <a:pPr marL="342900" indent="-342900">
              <a:spcAft>
                <a:spcPts val="2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完成 Analyst Briefing 安排</a:t>
            </a:r>
            <a:endParaRPr lang="en-US" sz="800" dirty="0"/>
          </a:p>
        </p:txBody>
      </p:sp>
      <p:sp>
        <p:nvSpPr>
          <p:cNvPr id="13" name="Content panel">
            <a:extLst>
              <a:ext uri="{C183D7F6-B498-43B3-948B-1728B52AA6E4}">
                <adec:decorative xmlns:adec="http://schemas.microsoft.com/office/drawing/2017/decorative" val="1"/>
              </a:ext>
            </a:extLst>
          </p:cNvPr>
          <p:cNvSpPr/>
          <p:nvPr/>
        </p:nvSpPr>
        <p:spPr>
          <a:xfrm>
            <a:off x="7040880" y="969264"/>
            <a:ext cx="1691640" cy="2103120"/>
          </a:xfrm>
          <a:prstGeom prst="rect">
            <a:avLst/>
          </a:prstGeom>
          <a:solidFill>
            <a:srgbClr val="F6F9FC"/>
          </a:solidFill>
          <a:ln w="6350">
            <a:solidFill>
              <a:srgbClr val="C9D8E6"/>
            </a:solidFill>
            <a:prstDash val="solid"/>
          </a:ln>
        </p:spPr>
      </p:sp>
      <p:sp>
        <p:nvSpPr>
          <p:cNvPr id="14" name="Panel accent">
            <a:extLst>
              <a:ext uri="{C183D7F6-B498-43B3-948B-1728B52AA6E4}">
                <adec:decorative xmlns:adec="http://schemas.microsoft.com/office/drawing/2017/decorative" val="1"/>
              </a:ext>
            </a:extLst>
          </p:cNvPr>
          <p:cNvSpPr/>
          <p:nvPr/>
        </p:nvSpPr>
        <p:spPr>
          <a:xfrm>
            <a:off x="7040880" y="969264"/>
            <a:ext cx="54864" cy="2103120"/>
          </a:xfrm>
          <a:prstGeom prst="rect">
            <a:avLst/>
          </a:prstGeom>
          <a:solidFill>
            <a:srgbClr val="E07A19"/>
          </a:solidFill>
          <a:ln/>
        </p:spPr>
      </p:sp>
      <p:sp>
        <p:nvSpPr>
          <p:cNvPr id="15" name="Text 12"/>
          <p:cNvSpPr/>
          <p:nvPr/>
        </p:nvSpPr>
        <p:spPr>
          <a:xfrm>
            <a:off x="7205472" y="1042416"/>
            <a:ext cx="1417320" cy="237744"/>
          </a:xfrm>
          <a:prstGeom prst="rect">
            <a:avLst/>
          </a:prstGeom>
          <a:noFill/>
          <a:ln/>
        </p:spPr>
        <p:txBody>
          <a:bodyPr wrap="square" lIns="0" tIns="0" rIns="0" bIns="0" rtlCol="0" anchor="ctr"/>
          <a:lstStyle/>
          <a:p>
            <a:pPr marL="0" indent="0">
              <a:buNone/>
            </a:pPr>
            <a:r>
              <a:rPr lang="zh-Hans" sz="1100" b="1">
                <a:solidFill>
                  <a:srgbClr val="1B2A41"/>
                </a:solidFill>
                <a:latin typeface="Microsoft YaHei" pitchFamily="34" charset="0"/>
                <a:ea typeface="Microsoft YaHei" pitchFamily="34" charset="-122"/>
                <a:cs typeface="Microsoft YaHei" pitchFamily="34" charset="-120"/>
              </a:rPr>
              <a:t>需跨团队确认</a:t>
            </a:r>
            <a:endParaRPr lang="en-US" sz="1100" dirty="0"/>
          </a:p>
        </p:txBody>
      </p:sp>
      <p:sp>
        <p:nvSpPr>
          <p:cNvPr id="16" name="Text 13"/>
          <p:cNvSpPr/>
          <p:nvPr/>
        </p:nvSpPr>
        <p:spPr>
          <a:xfrm>
            <a:off x="7205472" y="1316736"/>
            <a:ext cx="1371600" cy="1645920"/>
          </a:xfrm>
          <a:prstGeom prst="rect">
            <a:avLst/>
          </a:prstGeom>
          <a:noFill/>
          <a:ln/>
        </p:spPr>
        <p:txBody>
          <a:bodyPr wrap="square" lIns="0" tIns="0" rIns="0" bIns="0" rtlCol="0" anchor="ctr"/>
          <a:lstStyle/>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产品最终功能范围</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区域认证状态</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首批库存数量</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定价生效日期</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演示环境状态</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支持知识库发布日</a:t>
            </a:r>
            <a:endParaRPr lang="en-US" sz="800" dirty="0"/>
          </a:p>
          <a:p>
            <a:pPr marL="342900" indent="-342900">
              <a:spcAft>
                <a:spcPts val="100"/>
              </a:spcAft>
              <a:buSzPct val="100000"/>
              <a:buChar char="•"/>
            </a:pPr>
            <a:r>
              <a:rPr lang="zh-Hans" sz="800">
                <a:solidFill>
                  <a:srgbClr val="1B2A41"/>
                </a:solidFill>
                <a:latin typeface="Microsoft YaHei" pitchFamily="34" charset="0"/>
                <a:ea typeface="Microsoft YaHei" pitchFamily="34" charset="-122"/>
                <a:cs typeface="Microsoft YaHei" pitchFamily="34" charset="-120"/>
              </a:rPr>
              <a:t>日本 Launch/Delay 决策</a:t>
            </a:r>
            <a:endParaRPr lang="en-US" sz="800" dirty="0"/>
          </a:p>
        </p:txBody>
      </p:sp>
      <p:sp>
        <p:nvSpPr>
          <p:cNvPr id="17" name="Status callout box">
            <a:extLst>
              <a:ext uri="{C183D7F6-B498-43B3-948B-1728B52AA6E4}">
                <adec:decorative xmlns:adec="http://schemas.microsoft.com/office/drawing/2017/decorative" val="1"/>
              </a:ext>
            </a:extLst>
          </p:cNvPr>
          <p:cNvSpPr/>
          <p:nvPr/>
        </p:nvSpPr>
        <p:spPr>
          <a:xfrm>
            <a:off x="411480" y="3246120"/>
            <a:ext cx="8321040" cy="1481328"/>
          </a:xfrm>
          <a:prstGeom prst="rect">
            <a:avLst/>
          </a:prstGeom>
          <a:solidFill>
            <a:srgbClr val="FDF2E7"/>
          </a:solidFill>
          <a:ln w="9525">
            <a:solidFill>
              <a:srgbClr val="E07A19"/>
            </a:solidFill>
            <a:prstDash val="solid"/>
          </a:ln>
        </p:spPr>
      </p:sp>
      <p:sp>
        <p:nvSpPr>
          <p:cNvPr id="18" name="Text 15"/>
          <p:cNvSpPr/>
          <p:nvPr/>
        </p:nvSpPr>
        <p:spPr>
          <a:xfrm>
            <a:off x="621792" y="3346704"/>
            <a:ext cx="4114800" cy="292608"/>
          </a:xfrm>
          <a:prstGeom prst="rect">
            <a:avLst/>
          </a:prstGeom>
          <a:noFill/>
          <a:ln/>
        </p:spPr>
        <p:txBody>
          <a:bodyPr wrap="square" lIns="0" tIns="0" rIns="0" bIns="0" rtlCol="0" anchor="ctr"/>
          <a:lstStyle/>
          <a:p>
            <a:pPr marL="0" indent="0">
              <a:buNone/>
            </a:pPr>
            <a:r>
              <a:rPr lang="zh-Hans" sz="1300" b="1">
                <a:solidFill>
                  <a:srgbClr val="C62828"/>
                </a:solidFill>
                <a:latin typeface="Microsoft YaHei" pitchFamily="34" charset="0"/>
                <a:ea typeface="Microsoft YaHei" pitchFamily="34" charset="-122"/>
                <a:cs typeface="Microsoft YaHei" pitchFamily="34" charset="-120"/>
              </a:rPr>
              <a:t>市场赋能状态：处于风险中</a:t>
            </a:r>
            <a:endParaRPr lang="en-US" sz="1300" dirty="0"/>
          </a:p>
        </p:txBody>
      </p:sp>
      <p:sp>
        <p:nvSpPr>
          <p:cNvPr id="19" name="Text 16"/>
          <p:cNvSpPr/>
          <p:nvPr/>
        </p:nvSpPr>
        <p:spPr>
          <a:xfrm>
            <a:off x="621792" y="3694176"/>
            <a:ext cx="5120640" cy="868680"/>
          </a:xfrm>
          <a:prstGeom prst="rect">
            <a:avLst/>
          </a:prstGeom>
          <a:noFill/>
          <a:ln/>
        </p:spPr>
        <p:txBody>
          <a:bodyPr wrap="square" lIns="0" tIns="0" rIns="0" bIns="0" rtlCol="0" anchor="ctr"/>
          <a:lstStyle/>
          <a:p>
            <a:pPr marL="342900" indent="-342900">
              <a:spcAft>
                <a:spcPts val="1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APAC 渠道培训完成率 72%,低于 90% 目标</a:t>
            </a:r>
            <a:endParaRPr lang="en-US" sz="900" dirty="0"/>
          </a:p>
          <a:p>
            <a:pPr marL="342900" indent="-342900">
              <a:spcAft>
                <a:spcPts val="1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Pricing Approval 尚未完成</a:t>
            </a:r>
            <a:endParaRPr lang="en-US" sz="900" dirty="0"/>
          </a:p>
          <a:p>
            <a:pPr marL="342900" indent="-342900">
              <a:spcAft>
                <a:spcPts val="1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日本市场认证和上市日期仍需确认</a:t>
            </a:r>
            <a:endParaRPr lang="en-US" sz="900" dirty="0"/>
          </a:p>
          <a:p>
            <a:pPr marL="342900" indent="-342900">
              <a:spcAft>
                <a:spcPts val="100"/>
              </a:spcAft>
              <a:buSzPct val="100000"/>
              <a:buChar char="•"/>
            </a:pPr>
            <a:r>
              <a:rPr lang="zh-Hans" sz="900">
                <a:solidFill>
                  <a:srgbClr val="1B2A41"/>
                </a:solidFill>
                <a:latin typeface="Microsoft YaHei" pitchFamily="34" charset="0"/>
                <a:ea typeface="Microsoft YaHei" pitchFamily="34" charset="-122"/>
                <a:cs typeface="Microsoft YaHei" pitchFamily="34" charset="-120"/>
              </a:rPr>
              <a:t>演示指南与 Customer FAQ 尚未完成</a:t>
            </a:r>
            <a:endParaRPr lang="en-US" sz="900" dirty="0"/>
          </a:p>
        </p:txBody>
      </p:sp>
      <p:sp>
        <p:nvSpPr>
          <p:cNvPr id="20" name="Text 17"/>
          <p:cNvSpPr/>
          <p:nvPr/>
        </p:nvSpPr>
        <p:spPr>
          <a:xfrm>
            <a:off x="5897880" y="3657600"/>
            <a:ext cx="2743200" cy="914400"/>
          </a:xfrm>
          <a:prstGeom prst="rect">
            <a:avLst/>
          </a:prstGeom>
          <a:noFill/>
          <a:ln/>
        </p:spPr>
        <p:txBody>
          <a:bodyPr wrap="square" lIns="0" tIns="0" rIns="0" bIns="0" rtlCol="0" anchor="ctr"/>
          <a:lstStyle/>
          <a:p>
            <a:pPr marL="0" indent="0">
              <a:buNone/>
            </a:pPr>
            <a:r>
              <a:rPr lang="zh-Hans" sz="950" b="1">
                <a:solidFill>
                  <a:srgbClr val="1B2A41"/>
                </a:solidFill>
                <a:latin typeface="Microsoft YaHei" pitchFamily="34" charset="0"/>
                <a:ea typeface="Microsoft YaHei" pitchFamily="34" charset="-122"/>
                <a:cs typeface="Microsoft YaHei" pitchFamily="34" charset="-120"/>
              </a:rPr>
              <a:t>重要说明
</a:t>
            </a:r>
            <a:r>
              <a:rPr lang="zh-Hans" sz="900">
                <a:solidFill>
                  <a:srgbClr val="1B2A41"/>
                </a:solidFill>
                <a:latin typeface="Microsoft YaHei" pitchFamily="34" charset="0"/>
                <a:ea typeface="Microsoft YaHei" pitchFamily="34" charset="-122"/>
                <a:cs typeface="Microsoft YaHei" pitchFamily="34" charset="-120"/>
              </a:rPr>
              <a:t>此状态仅代表市场与销售准备视角,不代表最终 Go / No-Go 结论。 资料如与更新版本冲突,需人工确认。 </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efa4170-0d19-0005-0004-bc88714345d2}" enabled="1" method="Standard" siteId="{97826054-e768-48c1-9535-c88e5ba3f731}"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On-screen Show (16:9)</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8</cp:revision>
  <dcterms:created xsi:type="dcterms:W3CDTF">2013-07-15T20:26:40Z</dcterms:created>
  <dcterms:modified xsi:type="dcterms:W3CDTF">2026-09-08T08:57:56Z</dcterms:modified>
</cp:coreProperties>
</file>